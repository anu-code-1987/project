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1" r:id="rId14"/>
    <p:sldId id="272" r:id="rId15"/>
    <p:sldId id="273" r:id="rId16"/>
    <p:sldId id="276" r:id="rId17"/>
    <p:sldId id="277" r:id="rId18"/>
    <p:sldId id="278" r:id="rId19"/>
    <p:sldId id="279" r:id="rId20"/>
    <p:sldId id="281" r:id="rId21"/>
    <p:sldId id="282" r:id="rId22"/>
    <p:sldId id="283" r:id="rId23"/>
    <p:sldId id="287" r:id="rId24"/>
    <p:sldId id="288" r:id="rId25"/>
    <p:sldId id="289" r:id="rId26"/>
    <p:sldId id="290" r:id="rId27"/>
    <p:sldId id="291" r:id="rId28"/>
    <p:sldId id="292" r:id="rId29"/>
    <p:sldId id="293" r:id="rId30"/>
  </p:sldIdLst>
  <p:sldSz cx="18288000" cy="10287000"/>
  <p:notesSz cx="6858000" cy="9144000"/>
  <p:embeddedFontLst>
    <p:embeddedFont>
      <p:font typeface="Canva Sans" panose="020B0604020202020204" charset="0"/>
      <p:regular r:id="rId31"/>
    </p:embeddedFont>
    <p:embeddedFont>
      <p:font typeface="Lato" panose="020F0502020204030203" pitchFamily="34" charset="0"/>
      <p:regular r:id="rId32"/>
      <p:bold r:id="rId33"/>
      <p:italic r:id="rId34"/>
      <p:boldItalic r:id="rId35"/>
    </p:embeddedFont>
    <p:embeddedFont>
      <p:font typeface="Lato Bold" panose="020F0502020204030203" charset="0"/>
      <p:regular r:id="rId36"/>
      <p:bold r:id="rId37"/>
      <p:italic r:id="rId38"/>
      <p:boldItalic r:id="rId39"/>
    </p:embeddedFont>
    <p:embeddedFont>
      <p:font typeface="Lato Heavy" panose="020B0604020202020204" charset="0"/>
      <p:regular r:id="rId40"/>
      <p:bold r:id="rId41"/>
      <p:italic r:id="rId42"/>
      <p:boldItalic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3" autoAdjust="0"/>
    <p:restoredTop sz="94629" autoAdjust="0"/>
  </p:normalViewPr>
  <p:slideViewPr>
    <p:cSldViewPr>
      <p:cViewPr varScale="1">
        <p:scale>
          <a:sx n="50" d="100"/>
          <a:sy n="50" d="100"/>
        </p:scale>
        <p:origin x="994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uru99.com/how-to-create-test-strategy-document.html" TargetMode="External"/><Relationship Id="rId3" Type="http://schemas.openxmlformats.org/officeDocument/2006/relationships/hyperlink" Target="https://finance.yahoo.com/news/live/live-trump-slaps-25-tariffs-on-auto-imports-warns-eu-and-canada-will-face-far-larger-levies-if-they-ally-191201025.html" TargetMode="External"/><Relationship Id="rId7" Type="http://schemas.openxmlformats.org/officeDocument/2006/relationships/hyperlink" Target="https://www.shopify.com/ca/partners/blog/checkout-complianc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cm-alliance.com/cybersecurity-blog/how-to-secure-your-shopify-store-a-proven-data-protection-guide" TargetMode="External"/><Relationship Id="rId5" Type="http://schemas.openxmlformats.org/officeDocument/2006/relationships/hyperlink" Target="https://www.certguidance.com/release-deployment-management-itil-itsm/" TargetMode="External"/><Relationship Id="rId10" Type="http://schemas.openxmlformats.org/officeDocument/2006/relationships/hyperlink" Target="https://mcas-proxyweb.mcas.ms/certificate-checker?login=false&amp;originalUrl=https%3A%2F%2Fglossary.istqb.org.mcas.ms%2F%3FMcasTsid%3D15600&amp;McasCSRF=a069e8ac8e201513c903fcc3dd8c4ffd228683983c38f1887e60abc6405f276c" TargetMode="External"/><Relationship Id="rId4" Type="http://schemas.openxmlformats.org/officeDocument/2006/relationships/hyperlink" Target="https://www.bnnbloomberg.ca/business/2025/03/25/shopify-takes-steps-to-pull-in-billions-from-passive-funds/" TargetMode="External"/><Relationship Id="rId9" Type="http://schemas.openxmlformats.org/officeDocument/2006/relationships/hyperlink" Target="https://www.guru99.com/risk-based-testing.html" TargetMode="Externa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hopify.com/partners/terms" TargetMode="External"/><Relationship Id="rId3" Type="http://schemas.openxmlformats.org/officeDocument/2006/relationships/hyperlink" Target="https://help.shopify.com/en/partners/about" TargetMode="External"/><Relationship Id="rId7" Type="http://schemas.openxmlformats.org/officeDocument/2006/relationships/hyperlink" Target="https://help.shopify.com/en/partners/plus-certified-app-program/certification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help.shopify.com/en/manual/privacy-and-security/privacy/international-data-transfers" TargetMode="External"/><Relationship Id="rId5" Type="http://schemas.openxmlformats.org/officeDocument/2006/relationships/hyperlink" Target="https://help.shopify.com/en/manual/privacy-and-security/account-security/compliance-reports" TargetMode="External"/><Relationship Id="rId4" Type="http://schemas.openxmlformats.org/officeDocument/2006/relationships/hyperlink" Target="https://shopify.dev/docs/apps/launch/app-requirements-checklist" TargetMode="External"/><Relationship Id="rId9" Type="http://schemas.openxmlformats.org/officeDocument/2006/relationships/hyperlink" Target="https://www.shopify.com/ca/partners/blog/checkout-compliance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1842469" y="0"/>
            <a:ext cx="5416831" cy="12022429"/>
            <a:chOff x="0" y="0"/>
            <a:chExt cx="2858770" cy="6344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58770" cy="6344920"/>
            </a:xfrm>
            <a:custGeom>
              <a:avLst/>
              <a:gdLst/>
              <a:ahLst/>
              <a:cxnLst/>
              <a:rect l="l" t="t" r="r" b="b"/>
              <a:pathLst>
                <a:path w="2858770" h="6344920">
                  <a:moveTo>
                    <a:pt x="1827530" y="6344920"/>
                  </a:moveTo>
                  <a:lnTo>
                    <a:pt x="0" y="6344920"/>
                  </a:lnTo>
                  <a:lnTo>
                    <a:pt x="0" y="1031240"/>
                  </a:lnTo>
                  <a:cubicBezTo>
                    <a:pt x="0" y="461010"/>
                    <a:pt x="461010" y="0"/>
                    <a:pt x="1031240" y="0"/>
                  </a:cubicBezTo>
                  <a:lnTo>
                    <a:pt x="2858770" y="0"/>
                  </a:lnTo>
                  <a:lnTo>
                    <a:pt x="2858770" y="5313680"/>
                  </a:lnTo>
                  <a:cubicBezTo>
                    <a:pt x="2858770" y="5883910"/>
                    <a:pt x="2397760" y="6344920"/>
                    <a:pt x="1827530" y="6344920"/>
                  </a:cubicBezTo>
                  <a:close/>
                </a:path>
              </a:pathLst>
            </a:custGeom>
            <a:blipFill>
              <a:blip r:embed="rId2"/>
              <a:stretch>
                <a:fillRect l="-113405" r="-11951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7259300" y="7109187"/>
            <a:ext cx="1028700" cy="3177813"/>
            <a:chOff x="0" y="0"/>
            <a:chExt cx="812800" cy="25108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2510865"/>
            </a:xfrm>
            <a:custGeom>
              <a:avLst/>
              <a:gdLst/>
              <a:ahLst/>
              <a:cxnLst/>
              <a:rect l="l" t="t" r="r" b="b"/>
              <a:pathLst>
                <a:path w="812800" h="2510865">
                  <a:moveTo>
                    <a:pt x="0" y="0"/>
                  </a:moveTo>
                  <a:lnTo>
                    <a:pt x="812800" y="0"/>
                  </a:lnTo>
                  <a:lnTo>
                    <a:pt x="812800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2548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259300" y="0"/>
            <a:ext cx="1028700" cy="102870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609914" y="0"/>
            <a:ext cx="1694792" cy="10287000"/>
            <a:chOff x="0" y="0"/>
            <a:chExt cx="446365" cy="27093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6365" cy="2709333"/>
            </a:xfrm>
            <a:custGeom>
              <a:avLst/>
              <a:gdLst/>
              <a:ahLst/>
              <a:cxnLst/>
              <a:rect l="l" t="t" r="r" b="b"/>
              <a:pathLst>
                <a:path w="446365" h="2709333">
                  <a:moveTo>
                    <a:pt x="223183" y="0"/>
                  </a:moveTo>
                  <a:lnTo>
                    <a:pt x="223183" y="0"/>
                  </a:lnTo>
                  <a:cubicBezTo>
                    <a:pt x="282374" y="0"/>
                    <a:pt x="339142" y="23514"/>
                    <a:pt x="380996" y="65369"/>
                  </a:cubicBezTo>
                  <a:cubicBezTo>
                    <a:pt x="422851" y="107224"/>
                    <a:pt x="446365" y="163991"/>
                    <a:pt x="446365" y="223183"/>
                  </a:cubicBezTo>
                  <a:lnTo>
                    <a:pt x="446365" y="2486151"/>
                  </a:lnTo>
                  <a:cubicBezTo>
                    <a:pt x="446365" y="2609411"/>
                    <a:pt x="346443" y="2709333"/>
                    <a:pt x="223183" y="2709333"/>
                  </a:cubicBezTo>
                  <a:lnTo>
                    <a:pt x="223183" y="2709333"/>
                  </a:lnTo>
                  <a:cubicBezTo>
                    <a:pt x="99922" y="2709333"/>
                    <a:pt x="0" y="2609411"/>
                    <a:pt x="0" y="2486151"/>
                  </a:cubicBezTo>
                  <a:lnTo>
                    <a:pt x="0" y="223183"/>
                  </a:lnTo>
                  <a:cubicBezTo>
                    <a:pt x="0" y="99922"/>
                    <a:pt x="99922" y="0"/>
                    <a:pt x="223183" y="0"/>
                  </a:cubicBez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4636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853887" y="786854"/>
            <a:ext cx="1977164" cy="1977164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99699" y="0"/>
                  </a:moveTo>
                  <a:lnTo>
                    <a:pt x="613101" y="0"/>
                  </a:lnTo>
                  <a:cubicBezTo>
                    <a:pt x="666064" y="0"/>
                    <a:pt x="716859" y="21040"/>
                    <a:pt x="754309" y="58491"/>
                  </a:cubicBezTo>
                  <a:cubicBezTo>
                    <a:pt x="791760" y="95941"/>
                    <a:pt x="812800" y="146736"/>
                    <a:pt x="812800" y="199699"/>
                  </a:cubicBezTo>
                  <a:lnTo>
                    <a:pt x="812800" y="613101"/>
                  </a:lnTo>
                  <a:cubicBezTo>
                    <a:pt x="812800" y="666064"/>
                    <a:pt x="791760" y="716859"/>
                    <a:pt x="754309" y="754309"/>
                  </a:cubicBezTo>
                  <a:cubicBezTo>
                    <a:pt x="716859" y="791760"/>
                    <a:pt x="666064" y="812800"/>
                    <a:pt x="613101" y="812800"/>
                  </a:cubicBezTo>
                  <a:lnTo>
                    <a:pt x="199699" y="812800"/>
                  </a:lnTo>
                  <a:cubicBezTo>
                    <a:pt x="146736" y="812800"/>
                    <a:pt x="95941" y="791760"/>
                    <a:pt x="58491" y="754309"/>
                  </a:cubicBezTo>
                  <a:cubicBezTo>
                    <a:pt x="21040" y="716859"/>
                    <a:pt x="0" y="666064"/>
                    <a:pt x="0" y="613101"/>
                  </a:cubicBezTo>
                  <a:lnTo>
                    <a:pt x="0" y="199699"/>
                  </a:lnTo>
                  <a:cubicBezTo>
                    <a:pt x="0" y="146736"/>
                    <a:pt x="21040" y="95941"/>
                    <a:pt x="58491" y="58491"/>
                  </a:cubicBezTo>
                  <a:cubicBezTo>
                    <a:pt x="95941" y="21040"/>
                    <a:pt x="146736" y="0"/>
                    <a:pt x="199699" y="0"/>
                  </a:cubicBezTo>
                  <a:close/>
                </a:path>
              </a:pathLst>
            </a:custGeom>
            <a:solidFill>
              <a:srgbClr val="338A31">
                <a:alpha val="2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484493" y="9014056"/>
            <a:ext cx="2545888" cy="2545888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338A31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3295138" y="1028700"/>
            <a:ext cx="5888034" cy="780164"/>
          </a:xfrm>
          <a:custGeom>
            <a:avLst/>
            <a:gdLst/>
            <a:ahLst/>
            <a:cxnLst/>
            <a:rect l="l" t="t" r="r" b="b"/>
            <a:pathLst>
              <a:path w="5888034" h="780164">
                <a:moveTo>
                  <a:pt x="0" y="0"/>
                </a:moveTo>
                <a:lnTo>
                  <a:pt x="5888034" y="0"/>
                </a:lnTo>
                <a:lnTo>
                  <a:pt x="5888034" y="780164"/>
                </a:lnTo>
                <a:lnTo>
                  <a:pt x="0" y="7801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3984814" y="7823720"/>
            <a:ext cx="4508681" cy="1434580"/>
          </a:xfrm>
          <a:custGeom>
            <a:avLst/>
            <a:gdLst/>
            <a:ahLst/>
            <a:cxnLst/>
            <a:rect l="l" t="t" r="r" b="b"/>
            <a:pathLst>
              <a:path w="4508681" h="1434580">
                <a:moveTo>
                  <a:pt x="0" y="0"/>
                </a:moveTo>
                <a:lnTo>
                  <a:pt x="4508682" y="0"/>
                </a:lnTo>
                <a:lnTo>
                  <a:pt x="4508682" y="1434580"/>
                </a:lnTo>
                <a:lnTo>
                  <a:pt x="0" y="1434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1" name="TextBox 21"/>
          <p:cNvSpPr txBox="1"/>
          <p:nvPr/>
        </p:nvSpPr>
        <p:spPr>
          <a:xfrm>
            <a:off x="1624423" y="3984625"/>
            <a:ext cx="9229464" cy="234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00"/>
              </a:lnSpc>
            </a:pPr>
            <a:r>
              <a:rPr lang="en-US" sz="8000" b="1" dirty="0">
                <a:solidFill>
                  <a:srgbClr val="2D3538"/>
                </a:solidFill>
                <a:latin typeface="Lato Bold"/>
                <a:ea typeface="Lato Bold"/>
                <a:cs typeface="Lato Bold"/>
                <a:sym typeface="Lato Bold"/>
              </a:rPr>
              <a:t>Partner</a:t>
            </a:r>
          </a:p>
          <a:p>
            <a:pPr algn="ctr">
              <a:lnSpc>
                <a:spcPts val="9200"/>
              </a:lnSpc>
            </a:pPr>
            <a:r>
              <a:rPr lang="en-US" sz="8000" b="1" dirty="0">
                <a:solidFill>
                  <a:srgbClr val="2D3538"/>
                </a:solidFill>
                <a:latin typeface="Lato Bold"/>
                <a:ea typeface="Lato Bold"/>
                <a:cs typeface="Lato Bold"/>
                <a:sym typeface="Lato Bold"/>
              </a:rPr>
              <a:t>Marketplace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239155" y="1808864"/>
            <a:ext cx="0" cy="2030346"/>
          </a:xfrm>
          <a:prstGeom prst="line">
            <a:avLst/>
          </a:prstGeom>
          <a:ln w="38100" cap="rnd">
            <a:solidFill>
              <a:srgbClr val="479CCF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" name="AutoShape 23"/>
          <p:cNvSpPr/>
          <p:nvPr/>
        </p:nvSpPr>
        <p:spPr>
          <a:xfrm>
            <a:off x="6239155" y="6447790"/>
            <a:ext cx="0" cy="1375930"/>
          </a:xfrm>
          <a:prstGeom prst="line">
            <a:avLst/>
          </a:prstGeom>
          <a:ln w="38100" cap="rnd">
            <a:solidFill>
              <a:srgbClr val="479CCF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770594" cy="10287000"/>
            <a:chOff x="0" y="0"/>
            <a:chExt cx="178320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3202" cy="2709333"/>
            </a:xfrm>
            <a:custGeom>
              <a:avLst/>
              <a:gdLst/>
              <a:ahLst/>
              <a:cxnLst/>
              <a:rect l="l" t="t" r="r" b="b"/>
              <a:pathLst>
                <a:path w="1783202" h="2709333">
                  <a:moveTo>
                    <a:pt x="0" y="0"/>
                  </a:moveTo>
                  <a:lnTo>
                    <a:pt x="1783202" y="0"/>
                  </a:lnTo>
                  <a:lnTo>
                    <a:pt x="178320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8320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15472638" y="340111"/>
            <a:ext cx="1479329" cy="147932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66903" y="0"/>
                  </a:moveTo>
                  <a:lnTo>
                    <a:pt x="545897" y="0"/>
                  </a:lnTo>
                  <a:cubicBezTo>
                    <a:pt x="693303" y="0"/>
                    <a:pt x="812800" y="119497"/>
                    <a:pt x="812800" y="266903"/>
                  </a:cubicBezTo>
                  <a:lnTo>
                    <a:pt x="812800" y="545897"/>
                  </a:lnTo>
                  <a:cubicBezTo>
                    <a:pt x="812800" y="693303"/>
                    <a:pt x="693303" y="812800"/>
                    <a:pt x="545897" y="812800"/>
                  </a:cubicBezTo>
                  <a:lnTo>
                    <a:pt x="266903" y="812800"/>
                  </a:lnTo>
                  <a:cubicBezTo>
                    <a:pt x="119497" y="812800"/>
                    <a:pt x="0" y="693303"/>
                    <a:pt x="0" y="545897"/>
                  </a:cubicBezTo>
                  <a:lnTo>
                    <a:pt x="0" y="266903"/>
                  </a:lnTo>
                  <a:cubicBezTo>
                    <a:pt x="0" y="119497"/>
                    <a:pt x="119497" y="0"/>
                    <a:pt x="266903" y="0"/>
                  </a:cubicBezTo>
                  <a:close/>
                </a:path>
              </a:pathLst>
            </a:custGeom>
            <a:solidFill>
              <a:srgbClr val="338A31">
                <a:alpha val="2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16487576" y="1219358"/>
            <a:ext cx="771724" cy="77172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5BA62C">
                  <a:alpha val="4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5324660" y="9048119"/>
            <a:ext cx="596043" cy="59604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7860" y="3890645"/>
            <a:ext cx="4715715" cy="2505710"/>
            <a:chOff x="0" y="0"/>
            <a:chExt cx="6287621" cy="3340947"/>
          </a:xfrm>
        </p:grpSpPr>
        <p:sp>
          <p:nvSpPr>
            <p:cNvPr id="15" name="AutoShape 15"/>
            <p:cNvSpPr/>
            <p:nvPr/>
          </p:nvSpPr>
          <p:spPr>
            <a:xfrm>
              <a:off x="0" y="3277447"/>
              <a:ext cx="1746800" cy="0"/>
            </a:xfrm>
            <a:prstGeom prst="line">
              <a:avLst/>
            </a:prstGeom>
            <a:ln w="1270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21" y="-114300"/>
              <a:ext cx="6286500" cy="25662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40"/>
                </a:lnSpc>
              </a:pPr>
              <a:r>
                <a:rPr lang="en-US" sz="5600" b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Executive Summary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357338" y="5416427"/>
            <a:ext cx="9901962" cy="3841873"/>
            <a:chOff x="0" y="0"/>
            <a:chExt cx="13202615" cy="5122497"/>
          </a:xfrm>
        </p:grpSpPr>
        <p:sp>
          <p:nvSpPr>
            <p:cNvPr id="18" name="TextBox 18"/>
            <p:cNvSpPr txBox="1"/>
            <p:nvPr/>
          </p:nvSpPr>
          <p:spPr>
            <a:xfrm>
              <a:off x="0" y="1225502"/>
              <a:ext cx="13202615" cy="12926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>
                  <a:solidFill>
                    <a:srgbClr val="2D3538"/>
                  </a:solidFill>
                  <a:latin typeface="Lato"/>
                  <a:ea typeface="Lato"/>
                  <a:cs typeface="Lato"/>
                  <a:sym typeface="Lato"/>
                </a:rPr>
                <a:t>✅ Proven track record in designing and executing scalable digital ecosystems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2857875"/>
              <a:ext cx="13202615" cy="6322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>
                  <a:solidFill>
                    <a:srgbClr val="2D3538"/>
                  </a:solidFill>
                  <a:latin typeface="Lato"/>
                  <a:ea typeface="Lato"/>
                  <a:cs typeface="Lato"/>
                  <a:sym typeface="Lato"/>
                </a:rPr>
                <a:t>✅ Data-driven strategies to unlock new revenue opportunities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3829849"/>
              <a:ext cx="13202615" cy="12926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>
                  <a:solidFill>
                    <a:srgbClr val="2D3538"/>
                  </a:solidFill>
                  <a:latin typeface="Lato"/>
                  <a:ea typeface="Lato"/>
                  <a:cs typeface="Lato"/>
                  <a:sym typeface="Lato"/>
                </a:rPr>
                <a:t>✅ Strong industry insights to optimize value chains and drive growth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0" y="0"/>
              <a:ext cx="804333" cy="804333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38A31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 b="1">
                    <a:solidFill>
                      <a:srgbClr val="FFFFFF"/>
                    </a:solidFill>
                    <a:latin typeface="Lato Bold"/>
                    <a:ea typeface="Lato Bold"/>
                    <a:cs typeface="Lato Bold"/>
                    <a:sym typeface="Lato Bold"/>
                  </a:rPr>
                  <a:t>✱</a:t>
                </a:r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111861" y="-76200"/>
              <a:ext cx="11974493" cy="8805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 b="1">
                  <a:solidFill>
                    <a:srgbClr val="2D3538"/>
                  </a:solidFill>
                  <a:latin typeface="Lato Bold"/>
                  <a:ea typeface="Lato Bold"/>
                  <a:cs typeface="Lato Bold"/>
                  <a:sym typeface="Lato Bold"/>
                </a:rPr>
                <a:t>Our expertise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357338" y="1028700"/>
            <a:ext cx="9901962" cy="4081719"/>
            <a:chOff x="0" y="0"/>
            <a:chExt cx="13202615" cy="5442291"/>
          </a:xfrm>
        </p:grpSpPr>
        <p:sp>
          <p:nvSpPr>
            <p:cNvPr id="26" name="TextBox 26"/>
            <p:cNvSpPr txBox="1"/>
            <p:nvPr/>
          </p:nvSpPr>
          <p:spPr>
            <a:xfrm>
              <a:off x="0" y="1194858"/>
              <a:ext cx="13202615" cy="19530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 dirty="0">
                  <a:solidFill>
                    <a:srgbClr val="2D3538"/>
                  </a:solidFill>
                  <a:latin typeface="Lato"/>
                  <a:ea typeface="Lato"/>
                  <a:cs typeface="Lato"/>
                  <a:sym typeface="Lato"/>
                </a:rPr>
                <a:t>✅ Value Markers Consultancy is a trusted strategic advisory firm specializing in business transformation, digital innovation, and marketplace development.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3489243"/>
              <a:ext cx="13202615" cy="19530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>
                  <a:solidFill>
                    <a:srgbClr val="2D3538"/>
                  </a:solidFill>
                  <a:latin typeface="Lato"/>
                  <a:ea typeface="Lato"/>
                  <a:cs typeface="Lato"/>
                  <a:sym typeface="Lato"/>
                </a:rPr>
                <a:t>✅ We empower organizations to scale faster by leveraging platform ecosystems, agile methodologies, and data-driven insights.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0" y="5838"/>
              <a:ext cx="804333" cy="804333"/>
              <a:chOff x="0" y="0"/>
              <a:chExt cx="812800" cy="812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38A31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 b="1">
                    <a:solidFill>
                      <a:srgbClr val="FFFFFF"/>
                    </a:solidFill>
                    <a:latin typeface="Lato Bold"/>
                    <a:ea typeface="Lato Bold"/>
                    <a:cs typeface="Lato Bold"/>
                    <a:sym typeface="Lato Bold"/>
                  </a:rPr>
                  <a:t>✱</a:t>
                </a:r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1103449" y="-76200"/>
              <a:ext cx="11974493" cy="8805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 b="1">
                  <a:solidFill>
                    <a:srgbClr val="2D3538"/>
                  </a:solidFill>
                  <a:latin typeface="Lato Bold"/>
                  <a:ea typeface="Lato Bold"/>
                  <a:cs typeface="Lato Bold"/>
                  <a:sym typeface="Lato Bold"/>
                </a:rPr>
                <a:t>Who we are?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15089184" y="9601200"/>
            <a:ext cx="2890452" cy="382985"/>
          </a:xfrm>
          <a:custGeom>
            <a:avLst/>
            <a:gdLst/>
            <a:ahLst/>
            <a:cxnLst/>
            <a:rect l="l" t="t" r="r" b="b"/>
            <a:pathLst>
              <a:path w="2890452" h="382985">
                <a:moveTo>
                  <a:pt x="0" y="0"/>
                </a:moveTo>
                <a:lnTo>
                  <a:pt x="2890452" y="0"/>
                </a:lnTo>
                <a:lnTo>
                  <a:pt x="2890452" y="382985"/>
                </a:lnTo>
                <a:lnTo>
                  <a:pt x="0" y="382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17840184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251518" cy="10287000"/>
            <a:chOff x="0" y="0"/>
            <a:chExt cx="164649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46490" cy="2709333"/>
            </a:xfrm>
            <a:custGeom>
              <a:avLst/>
              <a:gdLst/>
              <a:ahLst/>
              <a:cxnLst/>
              <a:rect l="l" t="t" r="r" b="b"/>
              <a:pathLst>
                <a:path w="1646490" h="2709333">
                  <a:moveTo>
                    <a:pt x="0" y="0"/>
                  </a:moveTo>
                  <a:lnTo>
                    <a:pt x="1646490" y="0"/>
                  </a:lnTo>
                  <a:lnTo>
                    <a:pt x="164649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4649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854211" y="5306333"/>
            <a:ext cx="3388461" cy="4348314"/>
            <a:chOff x="0" y="0"/>
            <a:chExt cx="960727" cy="12328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60727" cy="1232873"/>
            </a:xfrm>
            <a:custGeom>
              <a:avLst/>
              <a:gdLst/>
              <a:ahLst/>
              <a:cxnLst/>
              <a:rect l="l" t="t" r="r" b="b"/>
              <a:pathLst>
                <a:path w="960727" h="1232873">
                  <a:moveTo>
                    <a:pt x="0" y="0"/>
                  </a:moveTo>
                  <a:lnTo>
                    <a:pt x="960727" y="0"/>
                  </a:lnTo>
                  <a:lnTo>
                    <a:pt x="960727" y="1232873"/>
                  </a:lnTo>
                  <a:lnTo>
                    <a:pt x="0" y="12328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960727" cy="1270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540565" y="5306333"/>
            <a:ext cx="3388461" cy="4348314"/>
            <a:chOff x="0" y="0"/>
            <a:chExt cx="960727" cy="123287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60727" cy="1232873"/>
            </a:xfrm>
            <a:custGeom>
              <a:avLst/>
              <a:gdLst/>
              <a:ahLst/>
              <a:cxnLst/>
              <a:rect l="l" t="t" r="r" b="b"/>
              <a:pathLst>
                <a:path w="960727" h="1232873">
                  <a:moveTo>
                    <a:pt x="0" y="0"/>
                  </a:moveTo>
                  <a:lnTo>
                    <a:pt x="960727" y="0"/>
                  </a:lnTo>
                  <a:lnTo>
                    <a:pt x="960727" y="1232873"/>
                  </a:lnTo>
                  <a:lnTo>
                    <a:pt x="0" y="12328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60727" cy="1270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540565" y="624645"/>
            <a:ext cx="3388461" cy="4348314"/>
            <a:chOff x="0" y="0"/>
            <a:chExt cx="960727" cy="123287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60727" cy="1232873"/>
            </a:xfrm>
            <a:custGeom>
              <a:avLst/>
              <a:gdLst/>
              <a:ahLst/>
              <a:cxnLst/>
              <a:rect l="l" t="t" r="r" b="b"/>
              <a:pathLst>
                <a:path w="960727" h="1232873">
                  <a:moveTo>
                    <a:pt x="0" y="0"/>
                  </a:moveTo>
                  <a:lnTo>
                    <a:pt x="960727" y="0"/>
                  </a:lnTo>
                  <a:lnTo>
                    <a:pt x="960727" y="1232873"/>
                  </a:lnTo>
                  <a:lnTo>
                    <a:pt x="0" y="12328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960727" cy="1270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224301" y="624645"/>
            <a:ext cx="3388461" cy="4348314"/>
            <a:chOff x="0" y="0"/>
            <a:chExt cx="960727" cy="123287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60727" cy="1232873"/>
            </a:xfrm>
            <a:custGeom>
              <a:avLst/>
              <a:gdLst/>
              <a:ahLst/>
              <a:cxnLst/>
              <a:rect l="l" t="t" r="r" b="b"/>
              <a:pathLst>
                <a:path w="960727" h="1232873">
                  <a:moveTo>
                    <a:pt x="0" y="0"/>
                  </a:moveTo>
                  <a:lnTo>
                    <a:pt x="960727" y="0"/>
                  </a:lnTo>
                  <a:lnTo>
                    <a:pt x="960727" y="1232873"/>
                  </a:lnTo>
                  <a:lnTo>
                    <a:pt x="0" y="12328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960727" cy="1270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224301" y="5306333"/>
            <a:ext cx="3388461" cy="4348314"/>
            <a:chOff x="0" y="0"/>
            <a:chExt cx="960727" cy="123287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60727" cy="1232873"/>
            </a:xfrm>
            <a:custGeom>
              <a:avLst/>
              <a:gdLst/>
              <a:ahLst/>
              <a:cxnLst/>
              <a:rect l="l" t="t" r="r" b="b"/>
              <a:pathLst>
                <a:path w="960727" h="1232873">
                  <a:moveTo>
                    <a:pt x="0" y="0"/>
                  </a:moveTo>
                  <a:lnTo>
                    <a:pt x="960727" y="0"/>
                  </a:lnTo>
                  <a:lnTo>
                    <a:pt x="960727" y="1232873"/>
                  </a:lnTo>
                  <a:lnTo>
                    <a:pt x="0" y="12328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960727" cy="1270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AutoShape 23"/>
          <p:cNvSpPr/>
          <p:nvPr/>
        </p:nvSpPr>
        <p:spPr>
          <a:xfrm>
            <a:off x="1028700" y="3410193"/>
            <a:ext cx="1310100" cy="0"/>
          </a:xfrm>
          <a:prstGeom prst="line">
            <a:avLst/>
          </a:prstGeom>
          <a:ln w="952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14224301" y="824185"/>
            <a:ext cx="2949959" cy="3057027"/>
            <a:chOff x="0" y="0"/>
            <a:chExt cx="3933279" cy="4076036"/>
          </a:xfrm>
        </p:grpSpPr>
        <p:pic>
          <p:nvPicPr>
            <p:cNvPr id="25" name="Picture 25"/>
            <p:cNvPicPr>
              <a:picLocks noChangeAspect="1"/>
            </p:cNvPicPr>
            <p:nvPr/>
          </p:nvPicPr>
          <p:blipFill>
            <a:blip r:embed="rId2"/>
            <a:srcRect t="17485"/>
            <a:stretch>
              <a:fillRect/>
            </a:stretch>
          </p:blipFill>
          <p:spPr>
            <a:xfrm>
              <a:off x="0" y="0"/>
              <a:ext cx="3933279" cy="4076036"/>
            </a:xfrm>
            <a:prstGeom prst="rect">
              <a:avLst/>
            </a:prstGeom>
          </p:spPr>
        </p:pic>
      </p:grpSp>
      <p:grpSp>
        <p:nvGrpSpPr>
          <p:cNvPr id="26" name="Group 26"/>
          <p:cNvGrpSpPr/>
          <p:nvPr/>
        </p:nvGrpSpPr>
        <p:grpSpPr>
          <a:xfrm>
            <a:off x="7073462" y="5531953"/>
            <a:ext cx="2949959" cy="3057027"/>
            <a:chOff x="0" y="0"/>
            <a:chExt cx="3933279" cy="4076036"/>
          </a:xfrm>
        </p:grpSpPr>
        <p:pic>
          <p:nvPicPr>
            <p:cNvPr id="27" name="Picture 27"/>
            <p:cNvPicPr>
              <a:picLocks noChangeAspect="1"/>
            </p:cNvPicPr>
            <p:nvPr/>
          </p:nvPicPr>
          <p:blipFill>
            <a:blip r:embed="rId3"/>
            <a:srcRect b="12044"/>
            <a:stretch>
              <a:fillRect/>
            </a:stretch>
          </p:blipFill>
          <p:spPr>
            <a:xfrm>
              <a:off x="0" y="0"/>
              <a:ext cx="3933279" cy="4076036"/>
            </a:xfrm>
            <a:prstGeom prst="rect">
              <a:avLst/>
            </a:prstGeom>
          </p:spPr>
        </p:pic>
      </p:grpSp>
      <p:grpSp>
        <p:nvGrpSpPr>
          <p:cNvPr id="28" name="Group 28"/>
          <p:cNvGrpSpPr/>
          <p:nvPr/>
        </p:nvGrpSpPr>
        <p:grpSpPr>
          <a:xfrm>
            <a:off x="10759816" y="5531953"/>
            <a:ext cx="2949959" cy="3057027"/>
            <a:chOff x="0" y="0"/>
            <a:chExt cx="3933279" cy="4076036"/>
          </a:xfrm>
        </p:grpSpPr>
        <p:pic>
          <p:nvPicPr>
            <p:cNvPr id="29" name="Picture 29"/>
            <p:cNvPicPr>
              <a:picLocks noChangeAspect="1"/>
            </p:cNvPicPr>
            <p:nvPr/>
          </p:nvPicPr>
          <p:blipFill>
            <a:blip r:embed="rId4"/>
            <a:srcRect t="8504" b="18307"/>
            <a:stretch>
              <a:fillRect/>
            </a:stretch>
          </p:blipFill>
          <p:spPr>
            <a:xfrm>
              <a:off x="0" y="0"/>
              <a:ext cx="3933279" cy="4076036"/>
            </a:xfrm>
            <a:prstGeom prst="rect">
              <a:avLst/>
            </a:prstGeom>
          </p:spPr>
        </p:pic>
      </p:grpSp>
      <p:grpSp>
        <p:nvGrpSpPr>
          <p:cNvPr id="30" name="Group 30"/>
          <p:cNvGrpSpPr/>
          <p:nvPr/>
        </p:nvGrpSpPr>
        <p:grpSpPr>
          <a:xfrm>
            <a:off x="14355805" y="5532551"/>
            <a:ext cx="2949959" cy="3057027"/>
            <a:chOff x="0" y="0"/>
            <a:chExt cx="3933279" cy="4076036"/>
          </a:xfrm>
        </p:grpSpPr>
        <p:pic>
          <p:nvPicPr>
            <p:cNvPr id="31" name="Picture 31"/>
            <p:cNvPicPr>
              <a:picLocks noChangeAspect="1"/>
            </p:cNvPicPr>
            <p:nvPr/>
          </p:nvPicPr>
          <p:blipFill>
            <a:blip r:embed="rId5"/>
            <a:srcRect l="12788" r="12788"/>
            <a:stretch>
              <a:fillRect/>
            </a:stretch>
          </p:blipFill>
          <p:spPr>
            <a:xfrm>
              <a:off x="0" y="0"/>
              <a:ext cx="3933279" cy="4076036"/>
            </a:xfrm>
            <a:prstGeom prst="rect">
              <a:avLst/>
            </a:prstGeom>
          </p:spPr>
        </p:pic>
      </p:grpSp>
      <p:grpSp>
        <p:nvGrpSpPr>
          <p:cNvPr id="32" name="Group 32"/>
          <p:cNvGrpSpPr/>
          <p:nvPr/>
        </p:nvGrpSpPr>
        <p:grpSpPr>
          <a:xfrm>
            <a:off x="10406862" y="824782"/>
            <a:ext cx="2949959" cy="3057027"/>
            <a:chOff x="0" y="0"/>
            <a:chExt cx="3933279" cy="4076036"/>
          </a:xfrm>
        </p:grpSpPr>
        <p:pic>
          <p:nvPicPr>
            <p:cNvPr id="33" name="Picture 33"/>
            <p:cNvPicPr>
              <a:picLocks noChangeAspect="1"/>
            </p:cNvPicPr>
            <p:nvPr/>
          </p:nvPicPr>
          <p:blipFill>
            <a:blip r:embed="rId6"/>
            <a:srcRect l="10025" t="13140" r="7120" b="16355"/>
            <a:stretch>
              <a:fillRect/>
            </a:stretch>
          </p:blipFill>
          <p:spPr>
            <a:xfrm>
              <a:off x="0" y="0"/>
              <a:ext cx="3933279" cy="4076036"/>
            </a:xfrm>
            <a:prstGeom prst="rect">
              <a:avLst/>
            </a:prstGeom>
          </p:spPr>
        </p:pic>
      </p:grpSp>
      <p:grpSp>
        <p:nvGrpSpPr>
          <p:cNvPr id="34" name="Group 34"/>
          <p:cNvGrpSpPr/>
          <p:nvPr/>
        </p:nvGrpSpPr>
        <p:grpSpPr>
          <a:xfrm>
            <a:off x="6854211" y="824782"/>
            <a:ext cx="2949959" cy="3057027"/>
            <a:chOff x="0" y="0"/>
            <a:chExt cx="3933279" cy="4076036"/>
          </a:xfrm>
        </p:grpSpPr>
        <p:pic>
          <p:nvPicPr>
            <p:cNvPr id="35" name="Picture 35"/>
            <p:cNvPicPr>
              <a:picLocks noChangeAspect="1"/>
            </p:cNvPicPr>
            <p:nvPr/>
          </p:nvPicPr>
          <p:blipFill>
            <a:blip r:embed="rId7"/>
            <a:srcRect t="4018" b="15381"/>
            <a:stretch>
              <a:fillRect/>
            </a:stretch>
          </p:blipFill>
          <p:spPr>
            <a:xfrm>
              <a:off x="0" y="0"/>
              <a:ext cx="3933279" cy="4076036"/>
            </a:xfrm>
            <a:prstGeom prst="rect">
              <a:avLst/>
            </a:prstGeom>
          </p:spPr>
        </p:pic>
      </p:grpSp>
      <p:sp>
        <p:nvSpPr>
          <p:cNvPr id="36" name="Freeform 36"/>
          <p:cNvSpPr/>
          <p:nvPr/>
        </p:nvSpPr>
        <p:spPr>
          <a:xfrm>
            <a:off x="309336" y="9608406"/>
            <a:ext cx="2854581" cy="378232"/>
          </a:xfrm>
          <a:custGeom>
            <a:avLst/>
            <a:gdLst/>
            <a:ahLst/>
            <a:cxnLst/>
            <a:rect l="l" t="t" r="r" b="b"/>
            <a:pathLst>
              <a:path w="2854581" h="378232">
                <a:moveTo>
                  <a:pt x="0" y="0"/>
                </a:moveTo>
                <a:lnTo>
                  <a:pt x="2854581" y="0"/>
                </a:lnTo>
                <a:lnTo>
                  <a:pt x="2854581" y="378232"/>
                </a:lnTo>
                <a:lnTo>
                  <a:pt x="0" y="3782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TextBox 37"/>
          <p:cNvSpPr txBox="1"/>
          <p:nvPr/>
        </p:nvSpPr>
        <p:spPr>
          <a:xfrm>
            <a:off x="1028700" y="1825382"/>
            <a:ext cx="4568944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FFFFFF"/>
                </a:solidFill>
                <a:latin typeface="Lato Heavy"/>
                <a:ea typeface="Lato Heavy"/>
                <a:cs typeface="Lato Heavy"/>
                <a:sym typeface="Lato Heavy"/>
              </a:rPr>
              <a:t>Our Team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28700" y="3981693"/>
            <a:ext cx="4403784" cy="436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Our team is a diverse blend of creative minds, strategic thinkers, and industry experts committed to propelling your business to new heights.</a:t>
            </a:r>
          </a:p>
          <a:p>
            <a:pPr marL="0" lvl="0" indent="0"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With a passion for innovation and a collective dedication to excellence, we bring a wealth of experience and fresh perspectives to every project.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146953" y="4069648"/>
            <a:ext cx="3104656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>
                <a:solidFill>
                  <a:srgbClr val="2D3538"/>
                </a:solidFill>
                <a:latin typeface="Lato Bold"/>
                <a:ea typeface="Lato Bold"/>
                <a:cs typeface="Lato Bold"/>
                <a:sym typeface="Lato Bold"/>
              </a:rPr>
              <a:t>Anu Karukayil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996114" y="8777417"/>
            <a:ext cx="3104656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2D3538"/>
                </a:solidFill>
                <a:latin typeface="Lato Bold"/>
                <a:ea typeface="Lato Bold"/>
                <a:cs typeface="Lato Bold"/>
                <a:sym typeface="Lato Bold"/>
              </a:rPr>
              <a:t>Adeayo Hassan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682467" y="8777417"/>
            <a:ext cx="3104656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2D3538"/>
                </a:solidFill>
                <a:latin typeface="Lato Bold"/>
                <a:ea typeface="Lato Bold"/>
                <a:cs typeface="Lato Bold"/>
                <a:sym typeface="Lato Bold"/>
              </a:rPr>
              <a:t>Guffran Mohammad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279784" y="8778014"/>
            <a:ext cx="3102000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>
                <a:solidFill>
                  <a:srgbClr val="2D3538"/>
                </a:solidFill>
                <a:latin typeface="Lato Bold"/>
                <a:ea typeface="Lato Bold"/>
                <a:cs typeface="Lato Bold"/>
                <a:sym typeface="Lato Bold"/>
              </a:rPr>
              <a:t>Pamela Basilio Granillo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330841" y="4070245"/>
            <a:ext cx="3102000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2D3538"/>
                </a:solidFill>
                <a:latin typeface="Lato Bold"/>
                <a:ea typeface="Lato Bold"/>
                <a:cs typeface="Lato Bold"/>
                <a:sym typeface="Lato Bold"/>
              </a:rPr>
              <a:t>Reehen Mehta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778190" y="4070246"/>
            <a:ext cx="3102000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>
                <a:solidFill>
                  <a:srgbClr val="2D3538"/>
                </a:solidFill>
                <a:latin typeface="Lato Bold"/>
                <a:ea typeface="Lato Bold"/>
                <a:cs typeface="Lato Bold"/>
                <a:sym typeface="Lato Bold"/>
              </a:rPr>
              <a:t>Praveen </a:t>
            </a:r>
            <a:r>
              <a:rPr lang="en-US" sz="2199" b="1" dirty="0" err="1">
                <a:solidFill>
                  <a:srgbClr val="2D3538"/>
                </a:solidFill>
                <a:latin typeface="Lato Bold"/>
                <a:ea typeface="Lato Bold"/>
                <a:cs typeface="Lato Bold"/>
                <a:sym typeface="Lato Bold"/>
              </a:rPr>
              <a:t>Anandaselvam</a:t>
            </a:r>
            <a:endParaRPr lang="en-US" sz="2199" b="1" dirty="0">
              <a:solidFill>
                <a:srgbClr val="2D3538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7840325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14400"/>
            <a:ext cx="16230600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D3538"/>
                </a:solidFill>
                <a:latin typeface="Lato Heavy"/>
                <a:ea typeface="Lato Heavy"/>
                <a:cs typeface="Lato Heavy"/>
                <a:sym typeface="Lato Heavy"/>
              </a:rPr>
              <a:t>100 Different Ideas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843607" y="7385993"/>
            <a:ext cx="3744615" cy="374461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338A31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089184" y="9601200"/>
            <a:ext cx="2890452" cy="382985"/>
          </a:xfrm>
          <a:custGeom>
            <a:avLst/>
            <a:gdLst/>
            <a:ahLst/>
            <a:cxnLst/>
            <a:rect l="l" t="t" r="r" b="b"/>
            <a:pathLst>
              <a:path w="2890452" h="382985">
                <a:moveTo>
                  <a:pt x="0" y="0"/>
                </a:moveTo>
                <a:lnTo>
                  <a:pt x="2890452" y="0"/>
                </a:lnTo>
                <a:lnTo>
                  <a:pt x="2890452" y="382985"/>
                </a:lnTo>
                <a:lnTo>
                  <a:pt x="0" y="382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 rot="5400000">
            <a:off x="15472638" y="340111"/>
            <a:ext cx="1479329" cy="1479329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66903" y="0"/>
                  </a:moveTo>
                  <a:lnTo>
                    <a:pt x="545897" y="0"/>
                  </a:lnTo>
                  <a:cubicBezTo>
                    <a:pt x="693303" y="0"/>
                    <a:pt x="812800" y="119497"/>
                    <a:pt x="812800" y="266903"/>
                  </a:cubicBezTo>
                  <a:lnTo>
                    <a:pt x="812800" y="545897"/>
                  </a:lnTo>
                  <a:cubicBezTo>
                    <a:pt x="812800" y="693303"/>
                    <a:pt x="693303" y="812800"/>
                    <a:pt x="545897" y="812800"/>
                  </a:cubicBezTo>
                  <a:lnTo>
                    <a:pt x="266903" y="812800"/>
                  </a:lnTo>
                  <a:cubicBezTo>
                    <a:pt x="119497" y="812800"/>
                    <a:pt x="0" y="693303"/>
                    <a:pt x="0" y="545897"/>
                  </a:cubicBezTo>
                  <a:lnTo>
                    <a:pt x="0" y="266903"/>
                  </a:lnTo>
                  <a:cubicBezTo>
                    <a:pt x="0" y="119497"/>
                    <a:pt x="119497" y="0"/>
                    <a:pt x="266903" y="0"/>
                  </a:cubicBezTo>
                  <a:close/>
                </a:path>
              </a:pathLst>
            </a:custGeom>
            <a:solidFill>
              <a:srgbClr val="338A31">
                <a:alpha val="2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5400000">
            <a:off x="16487576" y="1219358"/>
            <a:ext cx="771724" cy="7717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5BA62C">
                  <a:alpha val="4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3684372" y="2254914"/>
            <a:ext cx="10919255" cy="7001972"/>
          </a:xfrm>
          <a:custGeom>
            <a:avLst/>
            <a:gdLst/>
            <a:ahLst/>
            <a:cxnLst/>
            <a:rect l="l" t="t" r="r" b="b"/>
            <a:pathLst>
              <a:path w="10919255" h="7001972">
                <a:moveTo>
                  <a:pt x="0" y="0"/>
                </a:moveTo>
                <a:lnTo>
                  <a:pt x="10919256" y="0"/>
                </a:lnTo>
                <a:lnTo>
                  <a:pt x="10919256" y="7001972"/>
                </a:lnTo>
                <a:lnTo>
                  <a:pt x="0" y="70019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2229526" y="4985963"/>
            <a:ext cx="13828948" cy="12957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338A31"/>
                </a:solidFill>
                <a:latin typeface="Lato Heavy"/>
                <a:ea typeface="Lato Heavy"/>
                <a:cs typeface="Lato Heavy"/>
                <a:sym typeface="Lato Heavy"/>
              </a:rPr>
              <a:t>Shopify Partner Marketplace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308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770594" cy="10287000"/>
            <a:chOff x="0" y="0"/>
            <a:chExt cx="178320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3202" cy="2709333"/>
            </a:xfrm>
            <a:custGeom>
              <a:avLst/>
              <a:gdLst/>
              <a:ahLst/>
              <a:cxnLst/>
              <a:rect l="l" t="t" r="r" b="b"/>
              <a:pathLst>
                <a:path w="1783202" h="2709333">
                  <a:moveTo>
                    <a:pt x="0" y="0"/>
                  </a:moveTo>
                  <a:lnTo>
                    <a:pt x="1783202" y="0"/>
                  </a:lnTo>
                  <a:lnTo>
                    <a:pt x="178320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8320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5324660" y="9048119"/>
            <a:ext cx="596043" cy="59604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7860" y="3890557"/>
            <a:ext cx="4715715" cy="2505885"/>
            <a:chOff x="0" y="0"/>
            <a:chExt cx="6287621" cy="3341180"/>
          </a:xfrm>
        </p:grpSpPr>
        <p:sp>
          <p:nvSpPr>
            <p:cNvPr id="9" name="AutoShape 9"/>
            <p:cNvSpPr/>
            <p:nvPr/>
          </p:nvSpPr>
          <p:spPr>
            <a:xfrm>
              <a:off x="0" y="3277680"/>
              <a:ext cx="1746800" cy="0"/>
            </a:xfrm>
            <a:prstGeom prst="line">
              <a:avLst/>
            </a:prstGeom>
            <a:ln w="1270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1" y="-114300"/>
              <a:ext cx="6286500" cy="25662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40"/>
                </a:lnSpc>
              </a:pPr>
              <a:r>
                <a:rPr lang="en-US" sz="5600" b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Solution Options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15089184" y="9601200"/>
            <a:ext cx="2890452" cy="382985"/>
          </a:xfrm>
          <a:custGeom>
            <a:avLst/>
            <a:gdLst/>
            <a:ahLst/>
            <a:cxnLst/>
            <a:rect l="l" t="t" r="r" b="b"/>
            <a:pathLst>
              <a:path w="2890452" h="382985">
                <a:moveTo>
                  <a:pt x="0" y="0"/>
                </a:moveTo>
                <a:lnTo>
                  <a:pt x="2890452" y="0"/>
                </a:lnTo>
                <a:lnTo>
                  <a:pt x="2890452" y="382985"/>
                </a:lnTo>
                <a:lnTo>
                  <a:pt x="0" y="382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6415693" y="-1872307"/>
            <a:ext cx="3744615" cy="3744615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338A31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799840" y="2542154"/>
            <a:ext cx="9459460" cy="5202691"/>
            <a:chOff x="0" y="0"/>
            <a:chExt cx="12612614" cy="6936921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237295"/>
              <a:ext cx="1499960" cy="1495990"/>
              <a:chOff x="0" y="0"/>
              <a:chExt cx="296288" cy="295504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96288" cy="295504"/>
              </a:xfrm>
              <a:custGeom>
                <a:avLst/>
                <a:gdLst/>
                <a:ahLst/>
                <a:cxnLst/>
                <a:rect l="l" t="t" r="r" b="b"/>
                <a:pathLst>
                  <a:path w="296288" h="295504">
                    <a:moveTo>
                      <a:pt x="137638" y="0"/>
                    </a:moveTo>
                    <a:lnTo>
                      <a:pt x="158651" y="0"/>
                    </a:lnTo>
                    <a:cubicBezTo>
                      <a:pt x="195154" y="0"/>
                      <a:pt x="230163" y="14501"/>
                      <a:pt x="255975" y="40313"/>
                    </a:cubicBezTo>
                    <a:cubicBezTo>
                      <a:pt x="281787" y="66125"/>
                      <a:pt x="296288" y="101134"/>
                      <a:pt x="296288" y="137638"/>
                    </a:cubicBezTo>
                    <a:lnTo>
                      <a:pt x="296288" y="157866"/>
                    </a:lnTo>
                    <a:cubicBezTo>
                      <a:pt x="296288" y="233882"/>
                      <a:pt x="234666" y="295504"/>
                      <a:pt x="158651" y="295504"/>
                    </a:cubicBezTo>
                    <a:lnTo>
                      <a:pt x="137638" y="295504"/>
                    </a:lnTo>
                    <a:cubicBezTo>
                      <a:pt x="61623" y="295504"/>
                      <a:pt x="0" y="233882"/>
                      <a:pt x="0" y="157866"/>
                    </a:cubicBezTo>
                    <a:lnTo>
                      <a:pt x="0" y="137638"/>
                    </a:lnTo>
                    <a:cubicBezTo>
                      <a:pt x="0" y="61623"/>
                      <a:pt x="61623" y="0"/>
                      <a:pt x="137638" y="0"/>
                    </a:cubicBezTo>
                    <a:close/>
                  </a:path>
                </a:pathLst>
              </a:custGeom>
              <a:solidFill>
                <a:srgbClr val="2D353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28575"/>
                <a:ext cx="296288" cy="32407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l">
                  <a:lnSpc>
                    <a:spcPts val="2879"/>
                  </a:lnSpc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385364" y="704204"/>
              <a:ext cx="729231" cy="562171"/>
            </a:xfrm>
            <a:custGeom>
              <a:avLst/>
              <a:gdLst/>
              <a:ahLst/>
              <a:cxnLst/>
              <a:rect l="l" t="t" r="r" b="b"/>
              <a:pathLst>
                <a:path w="729231" h="562171">
                  <a:moveTo>
                    <a:pt x="0" y="0"/>
                  </a:moveTo>
                  <a:lnTo>
                    <a:pt x="729231" y="0"/>
                  </a:lnTo>
                  <a:lnTo>
                    <a:pt x="729231" y="562171"/>
                  </a:lnTo>
                  <a:lnTo>
                    <a:pt x="0" y="562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289430" y="677931"/>
              <a:ext cx="10323183" cy="19530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dirty="0">
                  <a:solidFill>
                    <a:srgbClr val="191919"/>
                  </a:solidFill>
                  <a:latin typeface="Lato"/>
                  <a:ea typeface="Lato"/>
                  <a:cs typeface="Lato"/>
                  <a:sym typeface="Lato"/>
                </a:rPr>
                <a:t>A collaborative platform enabling merchants and partners to co-sell, bundle services, and enhance fulfillment.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89430" y="-9525"/>
              <a:ext cx="10323183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191919"/>
                  </a:solidFill>
                  <a:latin typeface="Lato Bold"/>
                  <a:ea typeface="Lato Bold"/>
                  <a:cs typeface="Lato Bold"/>
                  <a:sym typeface="Lato Bold"/>
                </a:rPr>
                <a:t>Shopify Partner Marketplace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0" y="3882837"/>
              <a:ext cx="1499960" cy="1495990"/>
              <a:chOff x="0" y="0"/>
              <a:chExt cx="296288" cy="29550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96288" cy="295504"/>
              </a:xfrm>
              <a:custGeom>
                <a:avLst/>
                <a:gdLst/>
                <a:ahLst/>
                <a:cxnLst/>
                <a:rect l="l" t="t" r="r" b="b"/>
                <a:pathLst>
                  <a:path w="296288" h="295504">
                    <a:moveTo>
                      <a:pt x="137638" y="0"/>
                    </a:moveTo>
                    <a:lnTo>
                      <a:pt x="158651" y="0"/>
                    </a:lnTo>
                    <a:cubicBezTo>
                      <a:pt x="195154" y="0"/>
                      <a:pt x="230163" y="14501"/>
                      <a:pt x="255975" y="40313"/>
                    </a:cubicBezTo>
                    <a:cubicBezTo>
                      <a:pt x="281787" y="66125"/>
                      <a:pt x="296288" y="101134"/>
                      <a:pt x="296288" y="137638"/>
                    </a:cubicBezTo>
                    <a:lnTo>
                      <a:pt x="296288" y="157866"/>
                    </a:lnTo>
                    <a:cubicBezTo>
                      <a:pt x="296288" y="233882"/>
                      <a:pt x="234666" y="295504"/>
                      <a:pt x="158651" y="295504"/>
                    </a:cubicBezTo>
                    <a:lnTo>
                      <a:pt x="137638" y="295504"/>
                    </a:lnTo>
                    <a:cubicBezTo>
                      <a:pt x="61623" y="295504"/>
                      <a:pt x="0" y="233882"/>
                      <a:pt x="0" y="157866"/>
                    </a:cubicBezTo>
                    <a:lnTo>
                      <a:pt x="0" y="137638"/>
                    </a:lnTo>
                    <a:cubicBezTo>
                      <a:pt x="0" y="61623"/>
                      <a:pt x="61623" y="0"/>
                      <a:pt x="137638" y="0"/>
                    </a:cubicBezTo>
                    <a:close/>
                  </a:path>
                </a:pathLst>
              </a:custGeom>
              <a:solidFill>
                <a:srgbClr val="338A31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28575"/>
                <a:ext cx="296288" cy="32407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l">
                  <a:lnSpc>
                    <a:spcPts val="2879"/>
                  </a:lnSpc>
                </a:pPr>
                <a:endParaRPr/>
              </a:p>
            </p:txBody>
          </p:sp>
        </p:grpSp>
        <p:sp>
          <p:nvSpPr>
            <p:cNvPr id="25" name="Freeform 25"/>
            <p:cNvSpPr/>
            <p:nvPr/>
          </p:nvSpPr>
          <p:spPr>
            <a:xfrm>
              <a:off x="385364" y="4349746"/>
              <a:ext cx="729231" cy="562171"/>
            </a:xfrm>
            <a:custGeom>
              <a:avLst/>
              <a:gdLst/>
              <a:ahLst/>
              <a:cxnLst/>
              <a:rect l="l" t="t" r="r" b="b"/>
              <a:pathLst>
                <a:path w="729231" h="562171">
                  <a:moveTo>
                    <a:pt x="0" y="0"/>
                  </a:moveTo>
                  <a:lnTo>
                    <a:pt x="729231" y="0"/>
                  </a:lnTo>
                  <a:lnTo>
                    <a:pt x="729231" y="562171"/>
                  </a:lnTo>
                  <a:lnTo>
                    <a:pt x="0" y="562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89430" y="4323473"/>
              <a:ext cx="10323183" cy="26134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dirty="0">
                  <a:solidFill>
                    <a:srgbClr val="191919"/>
                  </a:solidFill>
                  <a:latin typeface="Lato"/>
                  <a:ea typeface="Lato"/>
                  <a:cs typeface="Lato"/>
                  <a:sym typeface="Lato"/>
                </a:rPr>
                <a:t>An intelligent assistant using AI, NLP, and AR to provide personalized shopping experiences, product recommendations, and virtual try-ons across multiple platforms.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89430" y="3636017"/>
              <a:ext cx="10323183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3200" b="1" dirty="0">
                  <a:solidFill>
                    <a:srgbClr val="191919"/>
                  </a:solidFill>
                  <a:latin typeface="Lato Bold"/>
                  <a:ea typeface="Lato Bold"/>
                  <a:cs typeface="Lato Bold"/>
                  <a:sym typeface="Lato Bold"/>
                </a:rPr>
                <a:t>AI-Powered Virtual Shopping Concierge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7829543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14400"/>
            <a:ext cx="16230600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2D3538"/>
                </a:solidFill>
                <a:latin typeface="Lato Heavy"/>
                <a:ea typeface="Lato Heavy"/>
                <a:cs typeface="Lato Heavy"/>
                <a:sym typeface="Lato Heavy"/>
              </a:rPr>
              <a:t>Marketplace Comparison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843607" y="7385993"/>
            <a:ext cx="3744615" cy="374461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338A31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089184" y="9601200"/>
            <a:ext cx="2890452" cy="382985"/>
          </a:xfrm>
          <a:custGeom>
            <a:avLst/>
            <a:gdLst/>
            <a:ahLst/>
            <a:cxnLst/>
            <a:rect l="l" t="t" r="r" b="b"/>
            <a:pathLst>
              <a:path w="2890452" h="382985">
                <a:moveTo>
                  <a:pt x="0" y="0"/>
                </a:moveTo>
                <a:lnTo>
                  <a:pt x="2890452" y="0"/>
                </a:lnTo>
                <a:lnTo>
                  <a:pt x="2890452" y="382985"/>
                </a:lnTo>
                <a:lnTo>
                  <a:pt x="0" y="382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 rot="5400000">
            <a:off x="15472638" y="340111"/>
            <a:ext cx="1479329" cy="1479329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66903" y="0"/>
                  </a:moveTo>
                  <a:lnTo>
                    <a:pt x="545897" y="0"/>
                  </a:lnTo>
                  <a:cubicBezTo>
                    <a:pt x="693303" y="0"/>
                    <a:pt x="812800" y="119497"/>
                    <a:pt x="812800" y="266903"/>
                  </a:cubicBezTo>
                  <a:lnTo>
                    <a:pt x="812800" y="545897"/>
                  </a:lnTo>
                  <a:cubicBezTo>
                    <a:pt x="812800" y="693303"/>
                    <a:pt x="693303" y="812800"/>
                    <a:pt x="545897" y="812800"/>
                  </a:cubicBezTo>
                  <a:lnTo>
                    <a:pt x="266903" y="812800"/>
                  </a:lnTo>
                  <a:cubicBezTo>
                    <a:pt x="119497" y="812800"/>
                    <a:pt x="0" y="693303"/>
                    <a:pt x="0" y="545897"/>
                  </a:cubicBezTo>
                  <a:lnTo>
                    <a:pt x="0" y="266903"/>
                  </a:lnTo>
                  <a:cubicBezTo>
                    <a:pt x="0" y="119497"/>
                    <a:pt x="119497" y="0"/>
                    <a:pt x="266903" y="0"/>
                  </a:cubicBezTo>
                  <a:close/>
                </a:path>
              </a:pathLst>
            </a:custGeom>
            <a:solidFill>
              <a:srgbClr val="338A31">
                <a:alpha val="2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5400000">
            <a:off x="16487576" y="1219358"/>
            <a:ext cx="771724" cy="7717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5BA62C">
                  <a:alpha val="4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37070" y="2255039"/>
            <a:ext cx="5268403" cy="7003261"/>
            <a:chOff x="0" y="0"/>
            <a:chExt cx="728067" cy="96781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28067" cy="967816"/>
            </a:xfrm>
            <a:custGeom>
              <a:avLst/>
              <a:gdLst/>
              <a:ahLst/>
              <a:cxnLst/>
              <a:rect l="l" t="t" r="r" b="b"/>
              <a:pathLst>
                <a:path w="728067" h="967816">
                  <a:moveTo>
                    <a:pt x="29390" y="0"/>
                  </a:moveTo>
                  <a:lnTo>
                    <a:pt x="698677" y="0"/>
                  </a:lnTo>
                  <a:cubicBezTo>
                    <a:pt x="714909" y="0"/>
                    <a:pt x="728067" y="13158"/>
                    <a:pt x="728067" y="29390"/>
                  </a:cubicBezTo>
                  <a:lnTo>
                    <a:pt x="728067" y="938426"/>
                  </a:lnTo>
                  <a:cubicBezTo>
                    <a:pt x="728067" y="946221"/>
                    <a:pt x="724971" y="953696"/>
                    <a:pt x="719459" y="959208"/>
                  </a:cubicBezTo>
                  <a:cubicBezTo>
                    <a:pt x="713947" y="964720"/>
                    <a:pt x="706472" y="967816"/>
                    <a:pt x="698677" y="967816"/>
                  </a:cubicBezTo>
                  <a:lnTo>
                    <a:pt x="29390" y="967816"/>
                  </a:lnTo>
                  <a:cubicBezTo>
                    <a:pt x="21595" y="967816"/>
                    <a:pt x="14120" y="964720"/>
                    <a:pt x="8608" y="959208"/>
                  </a:cubicBezTo>
                  <a:cubicBezTo>
                    <a:pt x="3096" y="953696"/>
                    <a:pt x="0" y="946221"/>
                    <a:pt x="0" y="938426"/>
                  </a:cubicBezTo>
                  <a:lnTo>
                    <a:pt x="0" y="29390"/>
                  </a:lnTo>
                  <a:cubicBezTo>
                    <a:pt x="0" y="21595"/>
                    <a:pt x="3096" y="14120"/>
                    <a:pt x="8608" y="8608"/>
                  </a:cubicBezTo>
                  <a:cubicBezTo>
                    <a:pt x="14120" y="3096"/>
                    <a:pt x="21595" y="0"/>
                    <a:pt x="29390" y="0"/>
                  </a:cubicBezTo>
                  <a:close/>
                </a:path>
              </a:pathLst>
            </a:custGeom>
            <a:solidFill>
              <a:srgbClr val="2D35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728067" cy="10059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1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513984" y="2255039"/>
            <a:ext cx="5268403" cy="7003261"/>
            <a:chOff x="0" y="0"/>
            <a:chExt cx="728067" cy="96781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28067" cy="967816"/>
            </a:xfrm>
            <a:custGeom>
              <a:avLst/>
              <a:gdLst/>
              <a:ahLst/>
              <a:cxnLst/>
              <a:rect l="l" t="t" r="r" b="b"/>
              <a:pathLst>
                <a:path w="728067" h="967816">
                  <a:moveTo>
                    <a:pt x="29390" y="0"/>
                  </a:moveTo>
                  <a:lnTo>
                    <a:pt x="698677" y="0"/>
                  </a:lnTo>
                  <a:cubicBezTo>
                    <a:pt x="714909" y="0"/>
                    <a:pt x="728067" y="13158"/>
                    <a:pt x="728067" y="29390"/>
                  </a:cubicBezTo>
                  <a:lnTo>
                    <a:pt x="728067" y="938426"/>
                  </a:lnTo>
                  <a:cubicBezTo>
                    <a:pt x="728067" y="946221"/>
                    <a:pt x="724971" y="953696"/>
                    <a:pt x="719459" y="959208"/>
                  </a:cubicBezTo>
                  <a:cubicBezTo>
                    <a:pt x="713947" y="964720"/>
                    <a:pt x="706472" y="967816"/>
                    <a:pt x="698677" y="967816"/>
                  </a:cubicBezTo>
                  <a:lnTo>
                    <a:pt x="29390" y="967816"/>
                  </a:lnTo>
                  <a:cubicBezTo>
                    <a:pt x="21595" y="967816"/>
                    <a:pt x="14120" y="964720"/>
                    <a:pt x="8608" y="959208"/>
                  </a:cubicBezTo>
                  <a:cubicBezTo>
                    <a:pt x="3096" y="953696"/>
                    <a:pt x="0" y="946221"/>
                    <a:pt x="0" y="938426"/>
                  </a:cubicBezTo>
                  <a:lnTo>
                    <a:pt x="0" y="29390"/>
                  </a:lnTo>
                  <a:cubicBezTo>
                    <a:pt x="0" y="21595"/>
                    <a:pt x="3096" y="14120"/>
                    <a:pt x="8608" y="8608"/>
                  </a:cubicBezTo>
                  <a:cubicBezTo>
                    <a:pt x="14120" y="3096"/>
                    <a:pt x="21595" y="0"/>
                    <a:pt x="29390" y="0"/>
                  </a:cubicBez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728067" cy="10059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1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990897" y="2255039"/>
            <a:ext cx="5268403" cy="7003261"/>
            <a:chOff x="0" y="0"/>
            <a:chExt cx="728067" cy="9678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28067" cy="967816"/>
            </a:xfrm>
            <a:custGeom>
              <a:avLst/>
              <a:gdLst/>
              <a:ahLst/>
              <a:cxnLst/>
              <a:rect l="l" t="t" r="r" b="b"/>
              <a:pathLst>
                <a:path w="728067" h="967816">
                  <a:moveTo>
                    <a:pt x="29390" y="0"/>
                  </a:moveTo>
                  <a:lnTo>
                    <a:pt x="698677" y="0"/>
                  </a:lnTo>
                  <a:cubicBezTo>
                    <a:pt x="714909" y="0"/>
                    <a:pt x="728067" y="13158"/>
                    <a:pt x="728067" y="29390"/>
                  </a:cubicBezTo>
                  <a:lnTo>
                    <a:pt x="728067" y="938426"/>
                  </a:lnTo>
                  <a:cubicBezTo>
                    <a:pt x="728067" y="946221"/>
                    <a:pt x="724971" y="953696"/>
                    <a:pt x="719459" y="959208"/>
                  </a:cubicBezTo>
                  <a:cubicBezTo>
                    <a:pt x="713947" y="964720"/>
                    <a:pt x="706472" y="967816"/>
                    <a:pt x="698677" y="967816"/>
                  </a:cubicBezTo>
                  <a:lnTo>
                    <a:pt x="29390" y="967816"/>
                  </a:lnTo>
                  <a:cubicBezTo>
                    <a:pt x="21595" y="967816"/>
                    <a:pt x="14120" y="964720"/>
                    <a:pt x="8608" y="959208"/>
                  </a:cubicBezTo>
                  <a:cubicBezTo>
                    <a:pt x="3096" y="953696"/>
                    <a:pt x="0" y="946221"/>
                    <a:pt x="0" y="938426"/>
                  </a:cubicBezTo>
                  <a:lnTo>
                    <a:pt x="0" y="29390"/>
                  </a:lnTo>
                  <a:cubicBezTo>
                    <a:pt x="0" y="21595"/>
                    <a:pt x="3096" y="14120"/>
                    <a:pt x="8608" y="8608"/>
                  </a:cubicBezTo>
                  <a:cubicBezTo>
                    <a:pt x="14120" y="3096"/>
                    <a:pt x="21595" y="0"/>
                    <a:pt x="29390" y="0"/>
                  </a:cubicBezTo>
                  <a:close/>
                </a:path>
              </a:pathLst>
            </a:custGeom>
            <a:solidFill>
              <a:srgbClr val="2D35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728067" cy="10059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1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418070" y="2566218"/>
            <a:ext cx="4505325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WooCommerce Multi-Vendor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5522" y="2566218"/>
            <a:ext cx="4505325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BigCommerce App Marketplace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372936" y="2566218"/>
            <a:ext cx="450532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Wix App Market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18609" y="3948554"/>
            <a:ext cx="4505325" cy="456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Open-source with full code access for flexible customization.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Strong multi-vendor support via plugins.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Large user base within the WordPress ecosystem, offering opportunities.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895522" y="3948554"/>
            <a:ext cx="4505325" cy="5020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Hosted SaaS with the revenue-sharing model.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API access is required for implementation, though it is less flexible than WooCommerce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Moderate developer entry with technical needs and app approval process.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72936" y="3948554"/>
            <a:ext cx="4505325" cy="456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Easy entry with low-code/no-code tools for developers.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Limited support for multi-vendor setups.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 ecosystem is closed but growing and focused on website enhancements.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859375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4414930" cy="10287000"/>
            <a:chOff x="0" y="0"/>
            <a:chExt cx="3488339" cy="812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88339" cy="8128000"/>
            </a:xfrm>
            <a:custGeom>
              <a:avLst/>
              <a:gdLst/>
              <a:ahLst/>
              <a:cxnLst/>
              <a:rect l="l" t="t" r="r" b="b"/>
              <a:pathLst>
                <a:path w="3488339" h="8128000">
                  <a:moveTo>
                    <a:pt x="0" y="0"/>
                  </a:moveTo>
                  <a:lnTo>
                    <a:pt x="3488339" y="0"/>
                  </a:lnTo>
                  <a:lnTo>
                    <a:pt x="3488339" y="8128000"/>
                  </a:lnTo>
                  <a:lnTo>
                    <a:pt x="0" y="8128000"/>
                  </a:ln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488339" cy="8166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5034055" y="5143500"/>
            <a:ext cx="12210866" cy="0"/>
          </a:xfrm>
          <a:prstGeom prst="line">
            <a:avLst/>
          </a:prstGeom>
          <a:ln w="47625" cap="flat">
            <a:solidFill>
              <a:srgbClr val="000000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1139488" y="1028700"/>
            <a:ext cx="0" cy="8229600"/>
          </a:xfrm>
          <a:prstGeom prst="line">
            <a:avLst/>
          </a:prstGeom>
          <a:ln w="47625" cap="flat">
            <a:solidFill>
              <a:srgbClr val="000000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6179561" y="1028700"/>
            <a:ext cx="4316989" cy="669452"/>
            <a:chOff x="0" y="0"/>
            <a:chExt cx="2746403" cy="42589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46403" cy="425895"/>
            </a:xfrm>
            <a:custGeom>
              <a:avLst/>
              <a:gdLst/>
              <a:ahLst/>
              <a:cxnLst/>
              <a:rect l="l" t="t" r="r" b="b"/>
              <a:pathLst>
                <a:path w="2746403" h="425895">
                  <a:moveTo>
                    <a:pt x="2543203" y="0"/>
                  </a:moveTo>
                  <a:cubicBezTo>
                    <a:pt x="2655427" y="0"/>
                    <a:pt x="2746403" y="95340"/>
                    <a:pt x="2746403" y="212948"/>
                  </a:cubicBezTo>
                  <a:cubicBezTo>
                    <a:pt x="2746403" y="330556"/>
                    <a:pt x="2655427" y="425895"/>
                    <a:pt x="2543203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2746403" cy="492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Strengths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510109" y="1917780"/>
            <a:ext cx="4986441" cy="2598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Native Shopify integration 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AI-powered matchmaking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Multiple revenue streams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Global reach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Better security &amp; reliability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510109" y="1028700"/>
            <a:ext cx="669452" cy="66945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5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451877" y="1028700"/>
            <a:ext cx="4316989" cy="669452"/>
            <a:chOff x="0" y="0"/>
            <a:chExt cx="2746403" cy="4258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746403" cy="425895"/>
            </a:xfrm>
            <a:custGeom>
              <a:avLst/>
              <a:gdLst/>
              <a:ahLst/>
              <a:cxnLst/>
              <a:rect l="l" t="t" r="r" b="b"/>
              <a:pathLst>
                <a:path w="2746403" h="425895">
                  <a:moveTo>
                    <a:pt x="2543203" y="0"/>
                  </a:moveTo>
                  <a:cubicBezTo>
                    <a:pt x="2655427" y="0"/>
                    <a:pt x="2746403" y="95340"/>
                    <a:pt x="2746403" y="212948"/>
                  </a:cubicBezTo>
                  <a:cubicBezTo>
                    <a:pt x="2746403" y="330556"/>
                    <a:pt x="2655427" y="425895"/>
                    <a:pt x="2543203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D35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2746403" cy="492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Weaknesses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782425" y="1921192"/>
            <a:ext cx="5476875" cy="2598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Limited to Advanced &amp; Plus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No direct multi-channel integration  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Fraud risk &amp; quality control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Pre-screened integrations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782425" y="1028700"/>
            <a:ext cx="669452" cy="66945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415693" y="-2174505"/>
            <a:ext cx="3744615" cy="3744615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338A31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179561" y="5770800"/>
            <a:ext cx="4316989" cy="669452"/>
            <a:chOff x="0" y="0"/>
            <a:chExt cx="2746403" cy="42589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746403" cy="425895"/>
            </a:xfrm>
            <a:custGeom>
              <a:avLst/>
              <a:gdLst/>
              <a:ahLst/>
              <a:cxnLst/>
              <a:rect l="l" t="t" r="r" b="b"/>
              <a:pathLst>
                <a:path w="2746403" h="425895">
                  <a:moveTo>
                    <a:pt x="2543203" y="0"/>
                  </a:moveTo>
                  <a:cubicBezTo>
                    <a:pt x="2655427" y="0"/>
                    <a:pt x="2746403" y="95340"/>
                    <a:pt x="2746403" y="212948"/>
                  </a:cubicBezTo>
                  <a:cubicBezTo>
                    <a:pt x="2746403" y="330556"/>
                    <a:pt x="2655427" y="425895"/>
                    <a:pt x="2543203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D35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66675"/>
              <a:ext cx="2746403" cy="492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Opportunities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5510109" y="6659880"/>
            <a:ext cx="4986441" cy="2598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Expand to fulfillment &amp; services 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Leverage AI &amp; analytics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Cross-platform selling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Flexible subscription tiers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510109" y="5770800"/>
            <a:ext cx="669452" cy="669452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451877" y="5770800"/>
            <a:ext cx="4316989" cy="669452"/>
            <a:chOff x="0" y="0"/>
            <a:chExt cx="2746403" cy="42589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746403" cy="425895"/>
            </a:xfrm>
            <a:custGeom>
              <a:avLst/>
              <a:gdLst/>
              <a:ahLst/>
              <a:cxnLst/>
              <a:rect l="l" t="t" r="r" b="b"/>
              <a:pathLst>
                <a:path w="2746403" h="425895">
                  <a:moveTo>
                    <a:pt x="2543203" y="0"/>
                  </a:moveTo>
                  <a:cubicBezTo>
                    <a:pt x="2655427" y="0"/>
                    <a:pt x="2746403" y="95340"/>
                    <a:pt x="2746403" y="212948"/>
                  </a:cubicBezTo>
                  <a:cubicBezTo>
                    <a:pt x="2746403" y="330556"/>
                    <a:pt x="2655427" y="425895"/>
                    <a:pt x="2543203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66675"/>
              <a:ext cx="2746403" cy="492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Threats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782425" y="6659880"/>
            <a:ext cx="4986441" cy="2074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Competitors may replicate features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Regulatory risks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Merchant resistance to fees 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1782425" y="5770800"/>
            <a:ext cx="669452" cy="669452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5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15089184" y="9601200"/>
            <a:ext cx="2890452" cy="382985"/>
          </a:xfrm>
          <a:custGeom>
            <a:avLst/>
            <a:gdLst/>
            <a:ahLst/>
            <a:cxnLst/>
            <a:rect l="l" t="t" r="r" b="b"/>
            <a:pathLst>
              <a:path w="2890452" h="382985">
                <a:moveTo>
                  <a:pt x="0" y="0"/>
                </a:moveTo>
                <a:lnTo>
                  <a:pt x="2890452" y="0"/>
                </a:lnTo>
                <a:lnTo>
                  <a:pt x="2890452" y="382985"/>
                </a:lnTo>
                <a:lnTo>
                  <a:pt x="0" y="382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9" name="Group 39"/>
          <p:cNvGrpSpPr/>
          <p:nvPr/>
        </p:nvGrpSpPr>
        <p:grpSpPr>
          <a:xfrm>
            <a:off x="778715" y="3891225"/>
            <a:ext cx="2857500" cy="2504550"/>
            <a:chOff x="0" y="0"/>
            <a:chExt cx="3810000" cy="3339401"/>
          </a:xfrm>
        </p:grpSpPr>
        <p:sp>
          <p:nvSpPr>
            <p:cNvPr id="40" name="AutoShape 40"/>
            <p:cNvSpPr/>
            <p:nvPr/>
          </p:nvSpPr>
          <p:spPr>
            <a:xfrm>
              <a:off x="0" y="3275901"/>
              <a:ext cx="1746800" cy="0"/>
            </a:xfrm>
            <a:prstGeom prst="line">
              <a:avLst/>
            </a:prstGeom>
            <a:ln w="1270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114300"/>
              <a:ext cx="3810000" cy="25662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40"/>
                </a:lnSpc>
              </a:pPr>
              <a:r>
                <a:rPr lang="en-US" sz="5600" b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SWOT</a:t>
              </a:r>
            </a:p>
            <a:p>
              <a:pPr algn="l">
                <a:lnSpc>
                  <a:spcPts val="7840"/>
                </a:lnSpc>
              </a:pPr>
              <a:r>
                <a:rPr lang="en-US" sz="5600" b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Analysis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7826195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14400"/>
            <a:ext cx="16230600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2D3538"/>
                </a:solidFill>
                <a:latin typeface="Lato Heavy"/>
                <a:ea typeface="Lato Heavy"/>
                <a:cs typeface="Lato Heavy"/>
                <a:sym typeface="Lato Heavy"/>
              </a:rPr>
              <a:t>Balance Scorecard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843607" y="7385993"/>
            <a:ext cx="3744615" cy="374461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338A31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089184" y="9601200"/>
            <a:ext cx="2890452" cy="382985"/>
          </a:xfrm>
          <a:custGeom>
            <a:avLst/>
            <a:gdLst/>
            <a:ahLst/>
            <a:cxnLst/>
            <a:rect l="l" t="t" r="r" b="b"/>
            <a:pathLst>
              <a:path w="2890452" h="382985">
                <a:moveTo>
                  <a:pt x="0" y="0"/>
                </a:moveTo>
                <a:lnTo>
                  <a:pt x="2890452" y="0"/>
                </a:lnTo>
                <a:lnTo>
                  <a:pt x="2890452" y="382985"/>
                </a:lnTo>
                <a:lnTo>
                  <a:pt x="0" y="382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 rot="5400000">
            <a:off x="15472638" y="340111"/>
            <a:ext cx="1479329" cy="1479329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66903" y="0"/>
                  </a:moveTo>
                  <a:lnTo>
                    <a:pt x="545897" y="0"/>
                  </a:lnTo>
                  <a:cubicBezTo>
                    <a:pt x="693303" y="0"/>
                    <a:pt x="812800" y="119497"/>
                    <a:pt x="812800" y="266903"/>
                  </a:cubicBezTo>
                  <a:lnTo>
                    <a:pt x="812800" y="545897"/>
                  </a:lnTo>
                  <a:cubicBezTo>
                    <a:pt x="812800" y="693303"/>
                    <a:pt x="693303" y="812800"/>
                    <a:pt x="545897" y="812800"/>
                  </a:cubicBezTo>
                  <a:lnTo>
                    <a:pt x="266903" y="812800"/>
                  </a:lnTo>
                  <a:cubicBezTo>
                    <a:pt x="119497" y="812800"/>
                    <a:pt x="0" y="693303"/>
                    <a:pt x="0" y="545897"/>
                  </a:cubicBezTo>
                  <a:lnTo>
                    <a:pt x="0" y="266903"/>
                  </a:lnTo>
                  <a:cubicBezTo>
                    <a:pt x="0" y="119497"/>
                    <a:pt x="119497" y="0"/>
                    <a:pt x="266903" y="0"/>
                  </a:cubicBezTo>
                  <a:close/>
                </a:path>
              </a:pathLst>
            </a:custGeom>
            <a:solidFill>
              <a:srgbClr val="338A31">
                <a:alpha val="2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5400000">
            <a:off x="16487576" y="1219358"/>
            <a:ext cx="771724" cy="7717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5BA62C">
                  <a:alpha val="4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922031" y="2253788"/>
            <a:ext cx="5881542" cy="3267075"/>
            <a:chOff x="0" y="0"/>
            <a:chExt cx="812800" cy="45149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451494"/>
            </a:xfrm>
            <a:custGeom>
              <a:avLst/>
              <a:gdLst/>
              <a:ahLst/>
              <a:cxnLst/>
              <a:rect l="l" t="t" r="r" b="b"/>
              <a:pathLst>
                <a:path w="812800" h="451494">
                  <a:moveTo>
                    <a:pt x="26326" y="0"/>
                  </a:moveTo>
                  <a:lnTo>
                    <a:pt x="786474" y="0"/>
                  </a:lnTo>
                  <a:cubicBezTo>
                    <a:pt x="793456" y="0"/>
                    <a:pt x="800152" y="2774"/>
                    <a:pt x="805089" y="7711"/>
                  </a:cubicBezTo>
                  <a:cubicBezTo>
                    <a:pt x="810026" y="12648"/>
                    <a:pt x="812800" y="19344"/>
                    <a:pt x="812800" y="26326"/>
                  </a:cubicBezTo>
                  <a:lnTo>
                    <a:pt x="812800" y="425167"/>
                  </a:lnTo>
                  <a:cubicBezTo>
                    <a:pt x="812800" y="432150"/>
                    <a:pt x="810026" y="438846"/>
                    <a:pt x="805089" y="443783"/>
                  </a:cubicBezTo>
                  <a:cubicBezTo>
                    <a:pt x="800152" y="448720"/>
                    <a:pt x="793456" y="451494"/>
                    <a:pt x="786474" y="451494"/>
                  </a:cubicBezTo>
                  <a:lnTo>
                    <a:pt x="26326" y="451494"/>
                  </a:lnTo>
                  <a:cubicBezTo>
                    <a:pt x="19344" y="451494"/>
                    <a:pt x="12648" y="448720"/>
                    <a:pt x="7711" y="443783"/>
                  </a:cubicBezTo>
                  <a:cubicBezTo>
                    <a:pt x="2774" y="438846"/>
                    <a:pt x="0" y="432150"/>
                    <a:pt x="0" y="425167"/>
                  </a:cubicBezTo>
                  <a:lnTo>
                    <a:pt x="0" y="26326"/>
                  </a:lnTo>
                  <a:cubicBezTo>
                    <a:pt x="0" y="19344"/>
                    <a:pt x="2774" y="12648"/>
                    <a:pt x="7711" y="7711"/>
                  </a:cubicBezTo>
                  <a:cubicBezTo>
                    <a:pt x="12648" y="2774"/>
                    <a:pt x="19344" y="0"/>
                    <a:pt x="26326" y="0"/>
                  </a:cubicBezTo>
                  <a:close/>
                </a:path>
              </a:pathLst>
            </a:custGeom>
            <a:solidFill>
              <a:srgbClr val="2D35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489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1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305776" y="3162930"/>
            <a:ext cx="5114925" cy="148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Revenue growth &amp; projections 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Profitability &amp; market reach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05776" y="2568291"/>
            <a:ext cx="5114925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Financial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220194" y="5991225"/>
            <a:ext cx="5881542" cy="3267075"/>
            <a:chOff x="0" y="0"/>
            <a:chExt cx="812800" cy="45149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451494"/>
            </a:xfrm>
            <a:custGeom>
              <a:avLst/>
              <a:gdLst/>
              <a:ahLst/>
              <a:cxnLst/>
              <a:rect l="l" t="t" r="r" b="b"/>
              <a:pathLst>
                <a:path w="812800" h="451494">
                  <a:moveTo>
                    <a:pt x="26326" y="0"/>
                  </a:moveTo>
                  <a:lnTo>
                    <a:pt x="786474" y="0"/>
                  </a:lnTo>
                  <a:cubicBezTo>
                    <a:pt x="793456" y="0"/>
                    <a:pt x="800152" y="2774"/>
                    <a:pt x="805089" y="7711"/>
                  </a:cubicBezTo>
                  <a:cubicBezTo>
                    <a:pt x="810026" y="12648"/>
                    <a:pt x="812800" y="19344"/>
                    <a:pt x="812800" y="26326"/>
                  </a:cubicBezTo>
                  <a:lnTo>
                    <a:pt x="812800" y="425167"/>
                  </a:lnTo>
                  <a:cubicBezTo>
                    <a:pt x="812800" y="432150"/>
                    <a:pt x="810026" y="438846"/>
                    <a:pt x="805089" y="443783"/>
                  </a:cubicBezTo>
                  <a:cubicBezTo>
                    <a:pt x="800152" y="448720"/>
                    <a:pt x="793456" y="451494"/>
                    <a:pt x="786474" y="451494"/>
                  </a:cubicBezTo>
                  <a:lnTo>
                    <a:pt x="26326" y="451494"/>
                  </a:lnTo>
                  <a:cubicBezTo>
                    <a:pt x="19344" y="451494"/>
                    <a:pt x="12648" y="448720"/>
                    <a:pt x="7711" y="443783"/>
                  </a:cubicBezTo>
                  <a:cubicBezTo>
                    <a:pt x="2774" y="438846"/>
                    <a:pt x="0" y="432150"/>
                    <a:pt x="0" y="425167"/>
                  </a:cubicBezTo>
                  <a:lnTo>
                    <a:pt x="0" y="26326"/>
                  </a:lnTo>
                  <a:cubicBezTo>
                    <a:pt x="0" y="19344"/>
                    <a:pt x="2774" y="12648"/>
                    <a:pt x="7711" y="7711"/>
                  </a:cubicBezTo>
                  <a:cubicBezTo>
                    <a:pt x="12648" y="2774"/>
                    <a:pt x="19344" y="0"/>
                    <a:pt x="26326" y="0"/>
                  </a:cubicBez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812800" cy="489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1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603939" y="6900367"/>
            <a:ext cx="5114925" cy="197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Operational efficiency &amp; integration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Fraud prevention &amp; dispute handling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03939" y="6305728"/>
            <a:ext cx="5114925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Internal Process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8186265" y="2253788"/>
            <a:ext cx="5881542" cy="3267075"/>
            <a:chOff x="0" y="0"/>
            <a:chExt cx="812800" cy="45149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451494"/>
            </a:xfrm>
            <a:custGeom>
              <a:avLst/>
              <a:gdLst/>
              <a:ahLst/>
              <a:cxnLst/>
              <a:rect l="l" t="t" r="r" b="b"/>
              <a:pathLst>
                <a:path w="812800" h="451494">
                  <a:moveTo>
                    <a:pt x="26326" y="0"/>
                  </a:moveTo>
                  <a:lnTo>
                    <a:pt x="786474" y="0"/>
                  </a:lnTo>
                  <a:cubicBezTo>
                    <a:pt x="793456" y="0"/>
                    <a:pt x="800152" y="2774"/>
                    <a:pt x="805089" y="7711"/>
                  </a:cubicBezTo>
                  <a:cubicBezTo>
                    <a:pt x="810026" y="12648"/>
                    <a:pt x="812800" y="19344"/>
                    <a:pt x="812800" y="26326"/>
                  </a:cubicBezTo>
                  <a:lnTo>
                    <a:pt x="812800" y="425167"/>
                  </a:lnTo>
                  <a:cubicBezTo>
                    <a:pt x="812800" y="432150"/>
                    <a:pt x="810026" y="438846"/>
                    <a:pt x="805089" y="443783"/>
                  </a:cubicBezTo>
                  <a:cubicBezTo>
                    <a:pt x="800152" y="448720"/>
                    <a:pt x="793456" y="451494"/>
                    <a:pt x="786474" y="451494"/>
                  </a:cubicBezTo>
                  <a:lnTo>
                    <a:pt x="26326" y="451494"/>
                  </a:lnTo>
                  <a:cubicBezTo>
                    <a:pt x="19344" y="451494"/>
                    <a:pt x="12648" y="448720"/>
                    <a:pt x="7711" y="443783"/>
                  </a:cubicBezTo>
                  <a:cubicBezTo>
                    <a:pt x="2774" y="438846"/>
                    <a:pt x="0" y="432150"/>
                    <a:pt x="0" y="425167"/>
                  </a:cubicBezTo>
                  <a:lnTo>
                    <a:pt x="0" y="26326"/>
                  </a:lnTo>
                  <a:cubicBezTo>
                    <a:pt x="0" y="19344"/>
                    <a:pt x="2774" y="12648"/>
                    <a:pt x="7711" y="7711"/>
                  </a:cubicBezTo>
                  <a:cubicBezTo>
                    <a:pt x="12648" y="2774"/>
                    <a:pt x="19344" y="0"/>
                    <a:pt x="26326" y="0"/>
                  </a:cubicBez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812800" cy="489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1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8570010" y="3162930"/>
            <a:ext cx="5114925" cy="197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Merchant collaboration experience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Collaboration retention &amp; loyality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70010" y="2568291"/>
            <a:ext cx="5114925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Customer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0484428" y="5991225"/>
            <a:ext cx="5881542" cy="3267075"/>
            <a:chOff x="0" y="0"/>
            <a:chExt cx="812800" cy="45149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451494"/>
            </a:xfrm>
            <a:custGeom>
              <a:avLst/>
              <a:gdLst/>
              <a:ahLst/>
              <a:cxnLst/>
              <a:rect l="l" t="t" r="r" b="b"/>
              <a:pathLst>
                <a:path w="812800" h="451494">
                  <a:moveTo>
                    <a:pt x="26326" y="0"/>
                  </a:moveTo>
                  <a:lnTo>
                    <a:pt x="786474" y="0"/>
                  </a:lnTo>
                  <a:cubicBezTo>
                    <a:pt x="793456" y="0"/>
                    <a:pt x="800152" y="2774"/>
                    <a:pt x="805089" y="7711"/>
                  </a:cubicBezTo>
                  <a:cubicBezTo>
                    <a:pt x="810026" y="12648"/>
                    <a:pt x="812800" y="19344"/>
                    <a:pt x="812800" y="26326"/>
                  </a:cubicBezTo>
                  <a:lnTo>
                    <a:pt x="812800" y="425167"/>
                  </a:lnTo>
                  <a:cubicBezTo>
                    <a:pt x="812800" y="432150"/>
                    <a:pt x="810026" y="438846"/>
                    <a:pt x="805089" y="443783"/>
                  </a:cubicBezTo>
                  <a:cubicBezTo>
                    <a:pt x="800152" y="448720"/>
                    <a:pt x="793456" y="451494"/>
                    <a:pt x="786474" y="451494"/>
                  </a:cubicBezTo>
                  <a:lnTo>
                    <a:pt x="26326" y="451494"/>
                  </a:lnTo>
                  <a:cubicBezTo>
                    <a:pt x="19344" y="451494"/>
                    <a:pt x="12648" y="448720"/>
                    <a:pt x="7711" y="443783"/>
                  </a:cubicBezTo>
                  <a:cubicBezTo>
                    <a:pt x="2774" y="438846"/>
                    <a:pt x="0" y="432150"/>
                    <a:pt x="0" y="425167"/>
                  </a:cubicBezTo>
                  <a:lnTo>
                    <a:pt x="0" y="26326"/>
                  </a:lnTo>
                  <a:cubicBezTo>
                    <a:pt x="0" y="19344"/>
                    <a:pt x="2774" y="12648"/>
                    <a:pt x="7711" y="7711"/>
                  </a:cubicBezTo>
                  <a:cubicBezTo>
                    <a:pt x="12648" y="2774"/>
                    <a:pt x="19344" y="0"/>
                    <a:pt x="26326" y="0"/>
                  </a:cubicBezTo>
                  <a:close/>
                </a:path>
              </a:pathLst>
            </a:custGeom>
            <a:solidFill>
              <a:srgbClr val="2D35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812800" cy="489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1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868173" y="6900367"/>
            <a:ext cx="5114925" cy="197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AI-Driven expansion &amp; innovation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Merchant education &amp; enablement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868173" y="6305728"/>
            <a:ext cx="5114925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Learning &amp; Growth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7670818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770594" cy="10287000"/>
            <a:chOff x="0" y="0"/>
            <a:chExt cx="178320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3202" cy="2709333"/>
            </a:xfrm>
            <a:custGeom>
              <a:avLst/>
              <a:gdLst/>
              <a:ahLst/>
              <a:cxnLst/>
              <a:rect l="l" t="t" r="r" b="b"/>
              <a:pathLst>
                <a:path w="1783202" h="2709333">
                  <a:moveTo>
                    <a:pt x="0" y="0"/>
                  </a:moveTo>
                  <a:lnTo>
                    <a:pt x="1783202" y="0"/>
                  </a:lnTo>
                  <a:lnTo>
                    <a:pt x="178320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8320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16272464" y="225811"/>
            <a:ext cx="1479329" cy="147932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66903" y="0"/>
                  </a:moveTo>
                  <a:lnTo>
                    <a:pt x="545897" y="0"/>
                  </a:lnTo>
                  <a:cubicBezTo>
                    <a:pt x="693303" y="0"/>
                    <a:pt x="812800" y="119497"/>
                    <a:pt x="812800" y="266903"/>
                  </a:cubicBezTo>
                  <a:lnTo>
                    <a:pt x="812800" y="545897"/>
                  </a:lnTo>
                  <a:cubicBezTo>
                    <a:pt x="812800" y="693303"/>
                    <a:pt x="693303" y="812800"/>
                    <a:pt x="545897" y="812800"/>
                  </a:cubicBezTo>
                  <a:lnTo>
                    <a:pt x="266903" y="812800"/>
                  </a:lnTo>
                  <a:cubicBezTo>
                    <a:pt x="119497" y="812800"/>
                    <a:pt x="0" y="693303"/>
                    <a:pt x="0" y="545897"/>
                  </a:cubicBezTo>
                  <a:lnTo>
                    <a:pt x="0" y="266903"/>
                  </a:lnTo>
                  <a:cubicBezTo>
                    <a:pt x="0" y="119497"/>
                    <a:pt x="119497" y="0"/>
                    <a:pt x="266903" y="0"/>
                  </a:cubicBezTo>
                  <a:close/>
                </a:path>
              </a:pathLst>
            </a:custGeom>
            <a:solidFill>
              <a:srgbClr val="338A31">
                <a:alpha val="2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17287402" y="1105058"/>
            <a:ext cx="771724" cy="77172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5BA62C">
                  <a:alpha val="4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5324660" y="9048119"/>
            <a:ext cx="596043" cy="59604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027860" y="4985704"/>
            <a:ext cx="1310100" cy="0"/>
          </a:xfrm>
          <a:prstGeom prst="line">
            <a:avLst/>
          </a:prstGeom>
          <a:ln w="952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028700" y="3401256"/>
            <a:ext cx="4714875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FFFFFF"/>
                </a:solidFill>
                <a:latin typeface="Lato Heavy"/>
                <a:ea typeface="Lato Heavy"/>
                <a:cs typeface="Lato Heavy"/>
                <a:sym typeface="Lato Heavy"/>
              </a:rPr>
              <a:t>The Initiative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57338" y="1931158"/>
            <a:ext cx="9901962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</a:pPr>
            <a:r>
              <a:rPr lang="en-US" sz="2799" dirty="0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✅ Shopify supports 5.17M+ active stores, yet lacks a native merchant collaboration ecosystem.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357338" y="6814185"/>
            <a:ext cx="9901962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</a:pPr>
            <a:r>
              <a:rPr lang="en-US" sz="27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✅ 67% of global e-commerce sales occur via online market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57338" y="3155438"/>
            <a:ext cx="9901962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</a:pPr>
            <a:r>
              <a:rPr lang="en-US" sz="27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✅ The Shopify Partner Marketplace bridges this gap by enabling merchants to discover, collaborate, and co-sell.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57338" y="7543165"/>
            <a:ext cx="9901962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</a:pPr>
            <a:r>
              <a:rPr lang="en-US" sz="27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✅ B2B e-commerce is growing at 18.7% CAGR through 2030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57338" y="4379718"/>
            <a:ext cx="9901962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</a:pPr>
            <a:r>
              <a:rPr lang="en-US" sz="27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✅ This initiative unlocks new revenue streams, boosts merchant retention, and strengthens Shopify’s edge.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357338" y="8272145"/>
            <a:ext cx="9901962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</a:pPr>
            <a:r>
              <a:rPr lang="en-US" sz="27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✅ Shopify’s GMV grew 22% YoY in Q2 2024, creating growth opportunities 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7357338" y="1028700"/>
            <a:ext cx="603250" cy="603250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8A3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✱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357338" y="5939088"/>
            <a:ext cx="603250" cy="603250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8A3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✱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8191234" y="952500"/>
            <a:ext cx="898087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2D3538"/>
                </a:solidFill>
                <a:latin typeface="Lato Bold"/>
                <a:ea typeface="Lato Bold"/>
                <a:cs typeface="Lato Bold"/>
                <a:sym typeface="Lato Bold"/>
              </a:rPr>
              <a:t>Enhancing commercial collaboration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184925" y="5858510"/>
            <a:ext cx="898087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2D3538"/>
                </a:solidFill>
                <a:latin typeface="Lato Bold"/>
                <a:ea typeface="Lato Bold"/>
                <a:cs typeface="Lato Bold"/>
                <a:sym typeface="Lato Bold"/>
              </a:rPr>
              <a:t>Why now?</a:t>
            </a:r>
          </a:p>
        </p:txBody>
      </p:sp>
      <p:sp>
        <p:nvSpPr>
          <p:cNvPr id="30" name="Freeform 30"/>
          <p:cNvSpPr/>
          <p:nvPr/>
        </p:nvSpPr>
        <p:spPr>
          <a:xfrm>
            <a:off x="15089184" y="9601200"/>
            <a:ext cx="2890452" cy="382985"/>
          </a:xfrm>
          <a:custGeom>
            <a:avLst/>
            <a:gdLst/>
            <a:ahLst/>
            <a:cxnLst/>
            <a:rect l="l" t="t" r="r" b="b"/>
            <a:pathLst>
              <a:path w="2890452" h="382985">
                <a:moveTo>
                  <a:pt x="0" y="0"/>
                </a:moveTo>
                <a:lnTo>
                  <a:pt x="2890452" y="0"/>
                </a:lnTo>
                <a:lnTo>
                  <a:pt x="2890452" y="382985"/>
                </a:lnTo>
                <a:lnTo>
                  <a:pt x="0" y="382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1027860" y="5387144"/>
            <a:ext cx="4714875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</a:pPr>
            <a:r>
              <a:rPr lang="en-US" sz="3999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Shopify Partner Marketplace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77165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770594" cy="10287000"/>
            <a:chOff x="0" y="0"/>
            <a:chExt cx="178320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3202" cy="2709333"/>
            </a:xfrm>
            <a:custGeom>
              <a:avLst/>
              <a:gdLst/>
              <a:ahLst/>
              <a:cxnLst/>
              <a:rect l="l" t="t" r="r" b="b"/>
              <a:pathLst>
                <a:path w="1783202" h="2709333">
                  <a:moveTo>
                    <a:pt x="0" y="0"/>
                  </a:moveTo>
                  <a:lnTo>
                    <a:pt x="1783202" y="0"/>
                  </a:lnTo>
                  <a:lnTo>
                    <a:pt x="178320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8320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5324660" y="9048119"/>
            <a:ext cx="596043" cy="59604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089184" y="9601200"/>
            <a:ext cx="2890452" cy="382985"/>
          </a:xfrm>
          <a:custGeom>
            <a:avLst/>
            <a:gdLst/>
            <a:ahLst/>
            <a:cxnLst/>
            <a:rect l="l" t="t" r="r" b="b"/>
            <a:pathLst>
              <a:path w="2890452" h="382985">
                <a:moveTo>
                  <a:pt x="0" y="0"/>
                </a:moveTo>
                <a:lnTo>
                  <a:pt x="2890452" y="0"/>
                </a:lnTo>
                <a:lnTo>
                  <a:pt x="2890452" y="382985"/>
                </a:lnTo>
                <a:lnTo>
                  <a:pt x="0" y="382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7802049" y="1028700"/>
          <a:ext cx="9457251" cy="8230668"/>
        </p:xfrm>
        <a:graphic>
          <a:graphicData uri="http://schemas.openxmlformats.org/drawingml/2006/table">
            <a:tbl>
              <a:tblPr/>
              <a:tblGrid>
                <a:gridCol w="1338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8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44581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🟨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2D3538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Initiation:</a:t>
                      </a:r>
                      <a:r>
                        <a:rPr lang="en-US" sz="26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Identify stakeholders, define KPIs, success metrics.</a:t>
                      </a:r>
                      <a:r>
                        <a:rPr lang="en-US" sz="2600" b="1">
                          <a:solidFill>
                            <a:srgbClr val="2D3538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 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9687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🟨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2D3538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Elicitation:</a:t>
                      </a:r>
                      <a:r>
                        <a:rPr lang="en-US" sz="26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Workshops with partners and merchants, collect requirements.</a:t>
                      </a:r>
                      <a:r>
                        <a:rPr lang="en-US" sz="2600" b="1">
                          <a:solidFill>
                            <a:srgbClr val="2D3538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 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🟨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2D3538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Analysis: </a:t>
                      </a:r>
                      <a:r>
                        <a:rPr lang="en-US" sz="26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Prioritize features using MoSCoW; map needs to features.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🟨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2D3538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Design: </a:t>
                      </a:r>
                      <a:r>
                        <a:rPr lang="en-US" sz="26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Build wireframes, validate with users, and refine iteratively.</a:t>
                      </a:r>
                      <a:r>
                        <a:rPr lang="en-US" sz="2600" b="1">
                          <a:solidFill>
                            <a:srgbClr val="2D3538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 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🟨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2D3538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Validation: </a:t>
                      </a:r>
                      <a:r>
                        <a:rPr lang="en-US" sz="26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UAT, feedback sessions, compliance testing.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🟨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2D3538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Implementation Support: </a:t>
                      </a:r>
                      <a:r>
                        <a:rPr lang="en-US" sz="26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Training, rollout support, post-launch feedback.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0" name="Group 10"/>
          <p:cNvGrpSpPr/>
          <p:nvPr/>
        </p:nvGrpSpPr>
        <p:grpSpPr>
          <a:xfrm>
            <a:off x="16401915" y="212349"/>
            <a:ext cx="1652841" cy="165284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38884" y="0"/>
                  </a:moveTo>
                  <a:lnTo>
                    <a:pt x="573916" y="0"/>
                  </a:lnTo>
                  <a:cubicBezTo>
                    <a:pt x="705848" y="0"/>
                    <a:pt x="812800" y="106952"/>
                    <a:pt x="812800" y="238884"/>
                  </a:cubicBezTo>
                  <a:lnTo>
                    <a:pt x="812800" y="573916"/>
                  </a:lnTo>
                  <a:cubicBezTo>
                    <a:pt x="812800" y="705848"/>
                    <a:pt x="705848" y="812800"/>
                    <a:pt x="573916" y="812800"/>
                  </a:cubicBezTo>
                  <a:lnTo>
                    <a:pt x="238884" y="812800"/>
                  </a:lnTo>
                  <a:cubicBezTo>
                    <a:pt x="106952" y="812800"/>
                    <a:pt x="0" y="705848"/>
                    <a:pt x="0" y="573916"/>
                  </a:cubicBezTo>
                  <a:lnTo>
                    <a:pt x="0" y="238884"/>
                  </a:lnTo>
                  <a:cubicBezTo>
                    <a:pt x="0" y="106952"/>
                    <a:pt x="106952" y="0"/>
                    <a:pt x="238884" y="0"/>
                  </a:cubicBezTo>
                  <a:close/>
                </a:path>
              </a:pathLst>
            </a:custGeom>
            <a:solidFill>
              <a:srgbClr val="338A31">
                <a:alpha val="2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204808" y="0"/>
            <a:ext cx="771724" cy="771724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338A31">
                  <a:alpha val="4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99385" y="8861085"/>
            <a:ext cx="3744615" cy="3744615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338A31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4CA95AE-7921-BD60-F189-E19DCBF829B5}"/>
              </a:ext>
            </a:extLst>
          </p:cNvPr>
          <p:cNvGrpSpPr/>
          <p:nvPr/>
        </p:nvGrpSpPr>
        <p:grpSpPr>
          <a:xfrm>
            <a:off x="1028700" y="2833868"/>
            <a:ext cx="4715715" cy="4619265"/>
            <a:chOff x="1028700" y="2365101"/>
            <a:chExt cx="4715715" cy="4619265"/>
          </a:xfrm>
        </p:grpSpPr>
        <p:sp>
          <p:nvSpPr>
            <p:cNvPr id="20" name="AutoShape 20"/>
            <p:cNvSpPr/>
            <p:nvPr/>
          </p:nvSpPr>
          <p:spPr>
            <a:xfrm>
              <a:off x="1028700" y="5764682"/>
              <a:ext cx="1310100" cy="0"/>
            </a:xfrm>
            <a:prstGeom prst="line">
              <a:avLst/>
            </a:prstGeom>
            <a:ln w="1270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29541" y="2365101"/>
              <a:ext cx="4714874" cy="29037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40"/>
                </a:lnSpc>
              </a:pPr>
              <a:r>
                <a:rPr lang="en-US" sz="5600" b="1" dirty="0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Business Analysis Phase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28700" y="6323966"/>
              <a:ext cx="4714874" cy="660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599"/>
                </a:lnSpc>
              </a:pPr>
              <a:r>
                <a:rPr lang="en-US" sz="3999" b="1" dirty="0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Overview of phases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7705049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14400"/>
            <a:ext cx="16230600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2D3538"/>
                </a:solidFill>
                <a:latin typeface="Lato Heavy"/>
                <a:ea typeface="Lato Heavy"/>
                <a:cs typeface="Lato Heavy"/>
                <a:sym typeface="Lato Heavy"/>
              </a:rPr>
              <a:t>Business Stakeholder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843607" y="7385993"/>
            <a:ext cx="3744615" cy="374461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338A31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089184" y="9601200"/>
            <a:ext cx="2890452" cy="382985"/>
          </a:xfrm>
          <a:custGeom>
            <a:avLst/>
            <a:gdLst/>
            <a:ahLst/>
            <a:cxnLst/>
            <a:rect l="l" t="t" r="r" b="b"/>
            <a:pathLst>
              <a:path w="2890452" h="382985">
                <a:moveTo>
                  <a:pt x="0" y="0"/>
                </a:moveTo>
                <a:lnTo>
                  <a:pt x="2890452" y="0"/>
                </a:lnTo>
                <a:lnTo>
                  <a:pt x="2890452" y="382985"/>
                </a:lnTo>
                <a:lnTo>
                  <a:pt x="0" y="382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 rot="5400000">
            <a:off x="15472638" y="340111"/>
            <a:ext cx="1479329" cy="1479329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66903" y="0"/>
                  </a:moveTo>
                  <a:lnTo>
                    <a:pt x="545897" y="0"/>
                  </a:lnTo>
                  <a:cubicBezTo>
                    <a:pt x="693303" y="0"/>
                    <a:pt x="812800" y="119497"/>
                    <a:pt x="812800" y="266903"/>
                  </a:cubicBezTo>
                  <a:lnTo>
                    <a:pt x="812800" y="545897"/>
                  </a:lnTo>
                  <a:cubicBezTo>
                    <a:pt x="812800" y="693303"/>
                    <a:pt x="693303" y="812800"/>
                    <a:pt x="545897" y="812800"/>
                  </a:cubicBezTo>
                  <a:lnTo>
                    <a:pt x="266903" y="812800"/>
                  </a:lnTo>
                  <a:cubicBezTo>
                    <a:pt x="119497" y="812800"/>
                    <a:pt x="0" y="693303"/>
                    <a:pt x="0" y="545897"/>
                  </a:cubicBezTo>
                  <a:lnTo>
                    <a:pt x="0" y="266903"/>
                  </a:lnTo>
                  <a:cubicBezTo>
                    <a:pt x="0" y="119497"/>
                    <a:pt x="119497" y="0"/>
                    <a:pt x="266903" y="0"/>
                  </a:cubicBezTo>
                  <a:close/>
                </a:path>
              </a:pathLst>
            </a:custGeom>
            <a:solidFill>
              <a:srgbClr val="338A31">
                <a:alpha val="2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5400000">
            <a:off x="16487576" y="1219358"/>
            <a:ext cx="771724" cy="7717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5BA62C">
                  <a:alpha val="4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1924407"/>
            <a:ext cx="16230600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</a:pPr>
            <a:r>
              <a:rPr lang="en-US" sz="2799" b="1">
                <a:solidFill>
                  <a:srgbClr val="2D3538"/>
                </a:solidFill>
                <a:latin typeface="Lato Bold"/>
                <a:ea typeface="Lato Bold"/>
                <a:cs typeface="Lato Bold"/>
                <a:sym typeface="Lato Bold"/>
              </a:rPr>
              <a:t>Plan for engagement strategy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37070" y="2797964"/>
            <a:ext cx="3143250" cy="6457950"/>
            <a:chOff x="0" y="0"/>
            <a:chExt cx="434382" cy="89245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4382" cy="892457"/>
            </a:xfrm>
            <a:custGeom>
              <a:avLst/>
              <a:gdLst/>
              <a:ahLst/>
              <a:cxnLst/>
              <a:rect l="l" t="t" r="r" b="b"/>
              <a:pathLst>
                <a:path w="434382" h="892457">
                  <a:moveTo>
                    <a:pt x="49261" y="0"/>
                  </a:moveTo>
                  <a:lnTo>
                    <a:pt x="385121" y="0"/>
                  </a:lnTo>
                  <a:cubicBezTo>
                    <a:pt x="398186" y="0"/>
                    <a:pt x="410715" y="5190"/>
                    <a:pt x="419954" y="14428"/>
                  </a:cubicBezTo>
                  <a:cubicBezTo>
                    <a:pt x="429192" y="23666"/>
                    <a:pt x="434382" y="36196"/>
                    <a:pt x="434382" y="49261"/>
                  </a:cubicBezTo>
                  <a:lnTo>
                    <a:pt x="434382" y="843196"/>
                  </a:lnTo>
                  <a:cubicBezTo>
                    <a:pt x="434382" y="870402"/>
                    <a:pt x="412327" y="892457"/>
                    <a:pt x="385121" y="892457"/>
                  </a:cubicBezTo>
                  <a:lnTo>
                    <a:pt x="49261" y="892457"/>
                  </a:lnTo>
                  <a:cubicBezTo>
                    <a:pt x="22055" y="892457"/>
                    <a:pt x="0" y="870402"/>
                    <a:pt x="0" y="843196"/>
                  </a:cubicBezTo>
                  <a:lnTo>
                    <a:pt x="0" y="49261"/>
                  </a:lnTo>
                  <a:cubicBezTo>
                    <a:pt x="0" y="22055"/>
                    <a:pt x="22055" y="0"/>
                    <a:pt x="49261" y="0"/>
                  </a:cubicBezTo>
                  <a:close/>
                </a:path>
              </a:pathLst>
            </a:custGeom>
            <a:solidFill>
              <a:srgbClr val="2D35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34382" cy="930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1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04722" y="2797964"/>
            <a:ext cx="3143250" cy="6457950"/>
            <a:chOff x="0" y="0"/>
            <a:chExt cx="434382" cy="89245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34382" cy="892457"/>
            </a:xfrm>
            <a:custGeom>
              <a:avLst/>
              <a:gdLst/>
              <a:ahLst/>
              <a:cxnLst/>
              <a:rect l="l" t="t" r="r" b="b"/>
              <a:pathLst>
                <a:path w="434382" h="892457">
                  <a:moveTo>
                    <a:pt x="49261" y="0"/>
                  </a:moveTo>
                  <a:lnTo>
                    <a:pt x="385121" y="0"/>
                  </a:lnTo>
                  <a:cubicBezTo>
                    <a:pt x="398186" y="0"/>
                    <a:pt x="410715" y="5190"/>
                    <a:pt x="419954" y="14428"/>
                  </a:cubicBezTo>
                  <a:cubicBezTo>
                    <a:pt x="429192" y="23666"/>
                    <a:pt x="434382" y="36196"/>
                    <a:pt x="434382" y="49261"/>
                  </a:cubicBezTo>
                  <a:lnTo>
                    <a:pt x="434382" y="843196"/>
                  </a:lnTo>
                  <a:cubicBezTo>
                    <a:pt x="434382" y="870402"/>
                    <a:pt x="412327" y="892457"/>
                    <a:pt x="385121" y="892457"/>
                  </a:cubicBezTo>
                  <a:lnTo>
                    <a:pt x="49261" y="892457"/>
                  </a:lnTo>
                  <a:cubicBezTo>
                    <a:pt x="22055" y="892457"/>
                    <a:pt x="0" y="870402"/>
                    <a:pt x="0" y="843196"/>
                  </a:cubicBezTo>
                  <a:lnTo>
                    <a:pt x="0" y="49261"/>
                  </a:lnTo>
                  <a:cubicBezTo>
                    <a:pt x="0" y="22055"/>
                    <a:pt x="22055" y="0"/>
                    <a:pt x="49261" y="0"/>
                  </a:cubicBez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434382" cy="930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1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572375" y="2797964"/>
            <a:ext cx="3143250" cy="6457950"/>
            <a:chOff x="0" y="0"/>
            <a:chExt cx="434382" cy="89245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34382" cy="892457"/>
            </a:xfrm>
            <a:custGeom>
              <a:avLst/>
              <a:gdLst/>
              <a:ahLst/>
              <a:cxnLst/>
              <a:rect l="l" t="t" r="r" b="b"/>
              <a:pathLst>
                <a:path w="434382" h="892457">
                  <a:moveTo>
                    <a:pt x="49261" y="0"/>
                  </a:moveTo>
                  <a:lnTo>
                    <a:pt x="385121" y="0"/>
                  </a:lnTo>
                  <a:cubicBezTo>
                    <a:pt x="398186" y="0"/>
                    <a:pt x="410715" y="5190"/>
                    <a:pt x="419954" y="14428"/>
                  </a:cubicBezTo>
                  <a:cubicBezTo>
                    <a:pt x="429192" y="23666"/>
                    <a:pt x="434382" y="36196"/>
                    <a:pt x="434382" y="49261"/>
                  </a:cubicBezTo>
                  <a:lnTo>
                    <a:pt x="434382" y="843196"/>
                  </a:lnTo>
                  <a:cubicBezTo>
                    <a:pt x="434382" y="870402"/>
                    <a:pt x="412327" y="892457"/>
                    <a:pt x="385121" y="892457"/>
                  </a:cubicBezTo>
                  <a:lnTo>
                    <a:pt x="49261" y="892457"/>
                  </a:lnTo>
                  <a:cubicBezTo>
                    <a:pt x="22055" y="892457"/>
                    <a:pt x="0" y="870402"/>
                    <a:pt x="0" y="843196"/>
                  </a:cubicBezTo>
                  <a:lnTo>
                    <a:pt x="0" y="49261"/>
                  </a:lnTo>
                  <a:cubicBezTo>
                    <a:pt x="0" y="22055"/>
                    <a:pt x="22055" y="0"/>
                    <a:pt x="49261" y="0"/>
                  </a:cubicBezTo>
                  <a:close/>
                </a:path>
              </a:pathLst>
            </a:custGeom>
            <a:solidFill>
              <a:srgbClr val="2D35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434382" cy="930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1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840028" y="2797964"/>
            <a:ext cx="3143250" cy="6457950"/>
            <a:chOff x="0" y="0"/>
            <a:chExt cx="434382" cy="89245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34382" cy="892457"/>
            </a:xfrm>
            <a:custGeom>
              <a:avLst/>
              <a:gdLst/>
              <a:ahLst/>
              <a:cxnLst/>
              <a:rect l="l" t="t" r="r" b="b"/>
              <a:pathLst>
                <a:path w="434382" h="892457">
                  <a:moveTo>
                    <a:pt x="49261" y="0"/>
                  </a:moveTo>
                  <a:lnTo>
                    <a:pt x="385121" y="0"/>
                  </a:lnTo>
                  <a:cubicBezTo>
                    <a:pt x="398186" y="0"/>
                    <a:pt x="410715" y="5190"/>
                    <a:pt x="419954" y="14428"/>
                  </a:cubicBezTo>
                  <a:cubicBezTo>
                    <a:pt x="429192" y="23666"/>
                    <a:pt x="434382" y="36196"/>
                    <a:pt x="434382" y="49261"/>
                  </a:cubicBezTo>
                  <a:lnTo>
                    <a:pt x="434382" y="843196"/>
                  </a:lnTo>
                  <a:cubicBezTo>
                    <a:pt x="434382" y="870402"/>
                    <a:pt x="412327" y="892457"/>
                    <a:pt x="385121" y="892457"/>
                  </a:cubicBezTo>
                  <a:lnTo>
                    <a:pt x="49261" y="892457"/>
                  </a:lnTo>
                  <a:cubicBezTo>
                    <a:pt x="22055" y="892457"/>
                    <a:pt x="0" y="870402"/>
                    <a:pt x="0" y="843196"/>
                  </a:cubicBezTo>
                  <a:lnTo>
                    <a:pt x="0" y="49261"/>
                  </a:lnTo>
                  <a:cubicBezTo>
                    <a:pt x="0" y="22055"/>
                    <a:pt x="22055" y="0"/>
                    <a:pt x="49261" y="0"/>
                  </a:cubicBez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434382" cy="930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1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107680" y="2797964"/>
            <a:ext cx="3143250" cy="6457950"/>
            <a:chOff x="0" y="0"/>
            <a:chExt cx="434382" cy="89245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34382" cy="892457"/>
            </a:xfrm>
            <a:custGeom>
              <a:avLst/>
              <a:gdLst/>
              <a:ahLst/>
              <a:cxnLst/>
              <a:rect l="l" t="t" r="r" b="b"/>
              <a:pathLst>
                <a:path w="434382" h="892457">
                  <a:moveTo>
                    <a:pt x="49261" y="0"/>
                  </a:moveTo>
                  <a:lnTo>
                    <a:pt x="385121" y="0"/>
                  </a:lnTo>
                  <a:cubicBezTo>
                    <a:pt x="398186" y="0"/>
                    <a:pt x="410715" y="5190"/>
                    <a:pt x="419954" y="14428"/>
                  </a:cubicBezTo>
                  <a:cubicBezTo>
                    <a:pt x="429192" y="23666"/>
                    <a:pt x="434382" y="36196"/>
                    <a:pt x="434382" y="49261"/>
                  </a:cubicBezTo>
                  <a:lnTo>
                    <a:pt x="434382" y="843196"/>
                  </a:lnTo>
                  <a:cubicBezTo>
                    <a:pt x="434382" y="870402"/>
                    <a:pt x="412327" y="892457"/>
                    <a:pt x="385121" y="892457"/>
                  </a:cubicBezTo>
                  <a:lnTo>
                    <a:pt x="49261" y="892457"/>
                  </a:lnTo>
                  <a:cubicBezTo>
                    <a:pt x="22055" y="892457"/>
                    <a:pt x="0" y="870402"/>
                    <a:pt x="0" y="843196"/>
                  </a:cubicBezTo>
                  <a:lnTo>
                    <a:pt x="0" y="49261"/>
                  </a:lnTo>
                  <a:cubicBezTo>
                    <a:pt x="0" y="22055"/>
                    <a:pt x="22055" y="0"/>
                    <a:pt x="49261" y="0"/>
                  </a:cubicBezTo>
                  <a:close/>
                </a:path>
              </a:pathLst>
            </a:custGeom>
            <a:solidFill>
              <a:srgbClr val="2D35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434382" cy="930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1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41870" y="4650767"/>
            <a:ext cx="2533650" cy="247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Product, Engineering, Marketing, Support, Leadership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609522" y="4650767"/>
            <a:ext cx="2533650" cy="247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Shopify Patners,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Merchants,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Legal Authorities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877175" y="4650767"/>
            <a:ext cx="2533650" cy="197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JIRA, Miro, Figma, Google Forms, Webinars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144250" y="4650767"/>
            <a:ext cx="2533650" cy="197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Surveys, Pilot Testing, Workshops, UAT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411903" y="4650767"/>
            <a:ext cx="2533650" cy="296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Participation Metrics, Milestone Reviews, Satisfaction Surveys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41870" y="3039715"/>
            <a:ext cx="2533650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Internal stakeholders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609522" y="3039715"/>
            <a:ext cx="2533650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External stakeholders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877175" y="3039715"/>
            <a:ext cx="2533650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Engagement tools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144250" y="3039715"/>
            <a:ext cx="2533650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Feedback</a:t>
            </a: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loop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411903" y="3049240"/>
            <a:ext cx="2533650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Monitoring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7697086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770594" cy="10287000"/>
            <a:chOff x="0" y="0"/>
            <a:chExt cx="178320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3202" cy="2709333"/>
            </a:xfrm>
            <a:custGeom>
              <a:avLst/>
              <a:gdLst/>
              <a:ahLst/>
              <a:cxnLst/>
              <a:rect l="l" t="t" r="r" b="b"/>
              <a:pathLst>
                <a:path w="1783202" h="2709333">
                  <a:moveTo>
                    <a:pt x="0" y="0"/>
                  </a:moveTo>
                  <a:lnTo>
                    <a:pt x="1783202" y="0"/>
                  </a:lnTo>
                  <a:lnTo>
                    <a:pt x="178320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8320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5324660" y="9048119"/>
            <a:ext cx="596043" cy="59604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27860" y="4564773"/>
            <a:ext cx="1310100" cy="0"/>
          </a:xfrm>
          <a:prstGeom prst="line">
            <a:avLst/>
          </a:prstGeom>
          <a:ln w="952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28700" y="2978543"/>
            <a:ext cx="4714875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Project Scope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089184" y="9601200"/>
            <a:ext cx="2890452" cy="382985"/>
          </a:xfrm>
          <a:custGeom>
            <a:avLst/>
            <a:gdLst/>
            <a:ahLst/>
            <a:cxnLst/>
            <a:rect l="l" t="t" r="r" b="b"/>
            <a:pathLst>
              <a:path w="2890452" h="382985">
                <a:moveTo>
                  <a:pt x="0" y="0"/>
                </a:moveTo>
                <a:lnTo>
                  <a:pt x="2890452" y="0"/>
                </a:lnTo>
                <a:lnTo>
                  <a:pt x="2890452" y="382985"/>
                </a:lnTo>
                <a:lnTo>
                  <a:pt x="0" y="382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7798629" y="1028700"/>
            <a:ext cx="9460671" cy="669452"/>
            <a:chOff x="0" y="0"/>
            <a:chExt cx="6018736" cy="4258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018736" cy="425895"/>
            </a:xfrm>
            <a:custGeom>
              <a:avLst/>
              <a:gdLst/>
              <a:ahLst/>
              <a:cxnLst/>
              <a:rect l="l" t="t" r="r" b="b"/>
              <a:pathLst>
                <a:path w="6018736" h="425895">
                  <a:moveTo>
                    <a:pt x="5815536" y="0"/>
                  </a:moveTo>
                  <a:cubicBezTo>
                    <a:pt x="5927760" y="0"/>
                    <a:pt x="6018736" y="95340"/>
                    <a:pt x="6018736" y="212948"/>
                  </a:cubicBezTo>
                  <a:cubicBezTo>
                    <a:pt x="6018736" y="330556"/>
                    <a:pt x="5927760" y="425895"/>
                    <a:pt x="5815536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6018736" cy="492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Shopify partner integration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798629" y="3751499"/>
            <a:ext cx="9460671" cy="669452"/>
            <a:chOff x="0" y="0"/>
            <a:chExt cx="6018736" cy="4258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018736" cy="425895"/>
            </a:xfrm>
            <a:custGeom>
              <a:avLst/>
              <a:gdLst/>
              <a:ahLst/>
              <a:cxnLst/>
              <a:rect l="l" t="t" r="r" b="b"/>
              <a:pathLst>
                <a:path w="6018736" h="425895">
                  <a:moveTo>
                    <a:pt x="5815536" y="0"/>
                  </a:moveTo>
                  <a:cubicBezTo>
                    <a:pt x="5927760" y="0"/>
                    <a:pt x="6018736" y="95340"/>
                    <a:pt x="6018736" y="212948"/>
                  </a:cubicBezTo>
                  <a:cubicBezTo>
                    <a:pt x="6018736" y="330556"/>
                    <a:pt x="5927760" y="425895"/>
                    <a:pt x="5815536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6018736" cy="492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Development &amp; profile lsting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798629" y="6471872"/>
            <a:ext cx="9460671" cy="669452"/>
            <a:chOff x="0" y="0"/>
            <a:chExt cx="6018736" cy="42589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018736" cy="425895"/>
            </a:xfrm>
            <a:custGeom>
              <a:avLst/>
              <a:gdLst/>
              <a:ahLst/>
              <a:cxnLst/>
              <a:rect l="l" t="t" r="r" b="b"/>
              <a:pathLst>
                <a:path w="6018736" h="425895">
                  <a:moveTo>
                    <a:pt x="5815536" y="0"/>
                  </a:moveTo>
                  <a:cubicBezTo>
                    <a:pt x="5927760" y="0"/>
                    <a:pt x="6018736" y="95340"/>
                    <a:pt x="6018736" y="212948"/>
                  </a:cubicBezTo>
                  <a:cubicBezTo>
                    <a:pt x="6018736" y="330556"/>
                    <a:pt x="5927760" y="425895"/>
                    <a:pt x="5815536" y="425895"/>
                  </a:cubicBezTo>
                  <a:lnTo>
                    <a:pt x="203200" y="425895"/>
                  </a:lnTo>
                  <a:cubicBezTo>
                    <a:pt x="90976" y="425895"/>
                    <a:pt x="0" y="330556"/>
                    <a:pt x="0" y="212948"/>
                  </a:cubicBezTo>
                  <a:cubicBezTo>
                    <a:pt x="0" y="9534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6018736" cy="492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Reporting &amp; issue resolution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798629" y="1748203"/>
            <a:ext cx="9460671" cy="1609725"/>
            <a:chOff x="0" y="0"/>
            <a:chExt cx="2491699" cy="4239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491699" cy="423961"/>
            </a:xfrm>
            <a:custGeom>
              <a:avLst/>
              <a:gdLst/>
              <a:ahLst/>
              <a:cxnLst/>
              <a:rect l="l" t="t" r="r" b="b"/>
              <a:pathLst>
                <a:path w="2491699" h="423961">
                  <a:moveTo>
                    <a:pt x="41735" y="0"/>
                  </a:moveTo>
                  <a:lnTo>
                    <a:pt x="2449965" y="0"/>
                  </a:lnTo>
                  <a:cubicBezTo>
                    <a:pt x="2473014" y="0"/>
                    <a:pt x="2491699" y="18685"/>
                    <a:pt x="2491699" y="41735"/>
                  </a:cubicBezTo>
                  <a:lnTo>
                    <a:pt x="2491699" y="382226"/>
                  </a:lnTo>
                  <a:cubicBezTo>
                    <a:pt x="2491699" y="405275"/>
                    <a:pt x="2473014" y="423961"/>
                    <a:pt x="2449965" y="423961"/>
                  </a:cubicBezTo>
                  <a:lnTo>
                    <a:pt x="41735" y="423961"/>
                  </a:lnTo>
                  <a:cubicBezTo>
                    <a:pt x="30666" y="423961"/>
                    <a:pt x="20051" y="419563"/>
                    <a:pt x="12224" y="411737"/>
                  </a:cubicBezTo>
                  <a:cubicBezTo>
                    <a:pt x="4397" y="403910"/>
                    <a:pt x="0" y="393295"/>
                    <a:pt x="0" y="382226"/>
                  </a:cubicBezTo>
                  <a:lnTo>
                    <a:pt x="0" y="41735"/>
                  </a:lnTo>
                  <a:cubicBezTo>
                    <a:pt x="0" y="18685"/>
                    <a:pt x="18685" y="0"/>
                    <a:pt x="41735" y="0"/>
                  </a:cubicBezTo>
                  <a:close/>
                </a:path>
              </a:pathLst>
            </a:custGeom>
            <a:solidFill>
              <a:srgbClr val="F0FD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491699" cy="4620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798629" y="4468576"/>
            <a:ext cx="9460671" cy="1609725"/>
            <a:chOff x="0" y="0"/>
            <a:chExt cx="2491699" cy="4239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91699" cy="423961"/>
            </a:xfrm>
            <a:custGeom>
              <a:avLst/>
              <a:gdLst/>
              <a:ahLst/>
              <a:cxnLst/>
              <a:rect l="l" t="t" r="r" b="b"/>
              <a:pathLst>
                <a:path w="2491699" h="423961">
                  <a:moveTo>
                    <a:pt x="41735" y="0"/>
                  </a:moveTo>
                  <a:lnTo>
                    <a:pt x="2449965" y="0"/>
                  </a:lnTo>
                  <a:cubicBezTo>
                    <a:pt x="2473014" y="0"/>
                    <a:pt x="2491699" y="18685"/>
                    <a:pt x="2491699" y="41735"/>
                  </a:cubicBezTo>
                  <a:lnTo>
                    <a:pt x="2491699" y="382226"/>
                  </a:lnTo>
                  <a:cubicBezTo>
                    <a:pt x="2491699" y="405275"/>
                    <a:pt x="2473014" y="423961"/>
                    <a:pt x="2449965" y="423961"/>
                  </a:cubicBezTo>
                  <a:lnTo>
                    <a:pt x="41735" y="423961"/>
                  </a:lnTo>
                  <a:cubicBezTo>
                    <a:pt x="30666" y="423961"/>
                    <a:pt x="20051" y="419563"/>
                    <a:pt x="12224" y="411737"/>
                  </a:cubicBezTo>
                  <a:cubicBezTo>
                    <a:pt x="4397" y="403910"/>
                    <a:pt x="0" y="393295"/>
                    <a:pt x="0" y="382226"/>
                  </a:cubicBezTo>
                  <a:lnTo>
                    <a:pt x="0" y="41735"/>
                  </a:lnTo>
                  <a:cubicBezTo>
                    <a:pt x="0" y="18685"/>
                    <a:pt x="18685" y="0"/>
                    <a:pt x="41735" y="0"/>
                  </a:cubicBezTo>
                  <a:close/>
                </a:path>
              </a:pathLst>
            </a:custGeom>
            <a:solidFill>
              <a:srgbClr val="F0FD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2491699" cy="4620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798629" y="7191375"/>
            <a:ext cx="9460671" cy="2066925"/>
            <a:chOff x="0" y="0"/>
            <a:chExt cx="2491699" cy="54437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491699" cy="544375"/>
            </a:xfrm>
            <a:custGeom>
              <a:avLst/>
              <a:gdLst/>
              <a:ahLst/>
              <a:cxnLst/>
              <a:rect l="l" t="t" r="r" b="b"/>
              <a:pathLst>
                <a:path w="2491699" h="544375">
                  <a:moveTo>
                    <a:pt x="41735" y="0"/>
                  </a:moveTo>
                  <a:lnTo>
                    <a:pt x="2449965" y="0"/>
                  </a:lnTo>
                  <a:cubicBezTo>
                    <a:pt x="2473014" y="0"/>
                    <a:pt x="2491699" y="18685"/>
                    <a:pt x="2491699" y="41735"/>
                  </a:cubicBezTo>
                  <a:lnTo>
                    <a:pt x="2491699" y="502641"/>
                  </a:lnTo>
                  <a:cubicBezTo>
                    <a:pt x="2491699" y="513709"/>
                    <a:pt x="2487302" y="524325"/>
                    <a:pt x="2479476" y="532151"/>
                  </a:cubicBezTo>
                  <a:cubicBezTo>
                    <a:pt x="2471649" y="539978"/>
                    <a:pt x="2461034" y="544375"/>
                    <a:pt x="2449965" y="544375"/>
                  </a:cubicBezTo>
                  <a:lnTo>
                    <a:pt x="41735" y="544375"/>
                  </a:lnTo>
                  <a:cubicBezTo>
                    <a:pt x="18685" y="544375"/>
                    <a:pt x="0" y="525690"/>
                    <a:pt x="0" y="502641"/>
                  </a:cubicBezTo>
                  <a:lnTo>
                    <a:pt x="0" y="41735"/>
                  </a:lnTo>
                  <a:cubicBezTo>
                    <a:pt x="0" y="18685"/>
                    <a:pt x="18685" y="0"/>
                    <a:pt x="41735" y="0"/>
                  </a:cubicBezTo>
                  <a:close/>
                </a:path>
              </a:pathLst>
            </a:custGeom>
            <a:solidFill>
              <a:srgbClr val="F0FD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2491699" cy="582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¡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8181166" y="2097207"/>
            <a:ext cx="8696325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Enable seamless onboarding and management of partners.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181166" y="4807435"/>
            <a:ext cx="8696325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Build a user-friendly marketplace for Shopify partners.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u="none" strike="noStrike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Allow partners to showcase their services and products.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81166" y="7517662"/>
            <a:ext cx="8696325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Track partner performance, sales, and customer engagement.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Offer premium education and support services for a fee.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6415693" y="-1872307"/>
            <a:ext cx="3744615" cy="3744615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338A31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027860" y="5105007"/>
            <a:ext cx="4714875" cy="208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</a:pPr>
            <a:r>
              <a:rPr lang="en-US" sz="3999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Seamless merchant collaboration within the ecosystem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769745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770594" cy="10287000"/>
            <a:chOff x="0" y="0"/>
            <a:chExt cx="178320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3202" cy="2709333"/>
            </a:xfrm>
            <a:custGeom>
              <a:avLst/>
              <a:gdLst/>
              <a:ahLst/>
              <a:cxnLst/>
              <a:rect l="l" t="t" r="r" b="b"/>
              <a:pathLst>
                <a:path w="1783202" h="2709333">
                  <a:moveTo>
                    <a:pt x="0" y="0"/>
                  </a:moveTo>
                  <a:lnTo>
                    <a:pt x="1783202" y="0"/>
                  </a:lnTo>
                  <a:lnTo>
                    <a:pt x="178320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8320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7860" y="6481445"/>
            <a:ext cx="1310100" cy="0"/>
          </a:xfrm>
          <a:prstGeom prst="line">
            <a:avLst/>
          </a:prstGeom>
          <a:ln w="952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6401915" y="212349"/>
            <a:ext cx="1652841" cy="165284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38884" y="0"/>
                  </a:moveTo>
                  <a:lnTo>
                    <a:pt x="573916" y="0"/>
                  </a:lnTo>
                  <a:cubicBezTo>
                    <a:pt x="705848" y="0"/>
                    <a:pt x="812800" y="106952"/>
                    <a:pt x="812800" y="238884"/>
                  </a:cubicBezTo>
                  <a:lnTo>
                    <a:pt x="812800" y="573916"/>
                  </a:lnTo>
                  <a:cubicBezTo>
                    <a:pt x="812800" y="705848"/>
                    <a:pt x="705848" y="812800"/>
                    <a:pt x="573916" y="812800"/>
                  </a:cubicBezTo>
                  <a:lnTo>
                    <a:pt x="238884" y="812800"/>
                  </a:lnTo>
                  <a:cubicBezTo>
                    <a:pt x="106952" y="812800"/>
                    <a:pt x="0" y="705848"/>
                    <a:pt x="0" y="573916"/>
                  </a:cubicBezTo>
                  <a:lnTo>
                    <a:pt x="0" y="238884"/>
                  </a:lnTo>
                  <a:cubicBezTo>
                    <a:pt x="0" y="106952"/>
                    <a:pt x="106952" y="0"/>
                    <a:pt x="238884" y="0"/>
                  </a:cubicBezTo>
                  <a:close/>
                </a:path>
              </a:pathLst>
            </a:custGeom>
            <a:solidFill>
              <a:srgbClr val="338A31">
                <a:alpha val="2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04808" y="0"/>
            <a:ext cx="771724" cy="77172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338A31">
                  <a:alpha val="4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399385" y="8861085"/>
            <a:ext cx="3744615" cy="3744615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338A31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089184" y="9601200"/>
            <a:ext cx="2890452" cy="382985"/>
          </a:xfrm>
          <a:custGeom>
            <a:avLst/>
            <a:gdLst/>
            <a:ahLst/>
            <a:cxnLst/>
            <a:rect l="l" t="t" r="r" b="b"/>
            <a:pathLst>
              <a:path w="2890452" h="382985">
                <a:moveTo>
                  <a:pt x="0" y="0"/>
                </a:moveTo>
                <a:lnTo>
                  <a:pt x="2890452" y="0"/>
                </a:lnTo>
                <a:lnTo>
                  <a:pt x="2890452" y="382985"/>
                </a:lnTo>
                <a:lnTo>
                  <a:pt x="0" y="382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1099528" y="2060416"/>
            <a:ext cx="1428750" cy="1428750"/>
          </a:xfrm>
          <a:custGeom>
            <a:avLst/>
            <a:gdLst/>
            <a:ahLst/>
            <a:cxnLst/>
            <a:rect l="l" t="t" r="r" b="b"/>
            <a:pathLst>
              <a:path w="1428750" h="1428750">
                <a:moveTo>
                  <a:pt x="0" y="0"/>
                </a:moveTo>
                <a:lnTo>
                  <a:pt x="1428750" y="0"/>
                </a:lnTo>
                <a:lnTo>
                  <a:pt x="1428750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7809765" y="5525929"/>
            <a:ext cx="1428750" cy="1428750"/>
          </a:xfrm>
          <a:custGeom>
            <a:avLst/>
            <a:gdLst/>
            <a:ahLst/>
            <a:cxnLst/>
            <a:rect l="l" t="t" r="r" b="b"/>
            <a:pathLst>
              <a:path w="1428750" h="1428750">
                <a:moveTo>
                  <a:pt x="0" y="0"/>
                </a:moveTo>
                <a:lnTo>
                  <a:pt x="1428750" y="0"/>
                </a:lnTo>
                <a:lnTo>
                  <a:pt x="1428750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7809765" y="2060416"/>
            <a:ext cx="1428750" cy="1428750"/>
          </a:xfrm>
          <a:custGeom>
            <a:avLst/>
            <a:gdLst/>
            <a:ahLst/>
            <a:cxnLst/>
            <a:rect l="l" t="t" r="r" b="b"/>
            <a:pathLst>
              <a:path w="1428750" h="1428750">
                <a:moveTo>
                  <a:pt x="0" y="0"/>
                </a:moveTo>
                <a:lnTo>
                  <a:pt x="1428750" y="0"/>
                </a:lnTo>
                <a:lnTo>
                  <a:pt x="1428750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4401800" y="3793173"/>
            <a:ext cx="1428750" cy="1428750"/>
          </a:xfrm>
          <a:custGeom>
            <a:avLst/>
            <a:gdLst/>
            <a:ahLst/>
            <a:cxnLst/>
            <a:rect l="l" t="t" r="r" b="b"/>
            <a:pathLst>
              <a:path w="1428750" h="1428750">
                <a:moveTo>
                  <a:pt x="0" y="0"/>
                </a:moveTo>
                <a:lnTo>
                  <a:pt x="1428750" y="0"/>
                </a:lnTo>
                <a:lnTo>
                  <a:pt x="1428750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4401800" y="5383848"/>
            <a:ext cx="2857500" cy="1671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D3538"/>
                </a:solidFill>
                <a:latin typeface="Lato Bold"/>
                <a:ea typeface="Lato Bold"/>
                <a:cs typeface="Lato Bold"/>
                <a:sym typeface="Lato Bold"/>
              </a:rPr>
              <a:t>Real-time Analytics &amp; Dashboards</a:t>
            </a:r>
          </a:p>
        </p:txBody>
      </p:sp>
      <p:sp>
        <p:nvSpPr>
          <p:cNvPr id="21" name="Freeform 21"/>
          <p:cNvSpPr/>
          <p:nvPr/>
        </p:nvSpPr>
        <p:spPr>
          <a:xfrm>
            <a:off x="11099528" y="5525929"/>
            <a:ext cx="1428750" cy="1428750"/>
          </a:xfrm>
          <a:custGeom>
            <a:avLst/>
            <a:gdLst/>
            <a:ahLst/>
            <a:cxnLst/>
            <a:rect l="l" t="t" r="r" b="b"/>
            <a:pathLst>
              <a:path w="1428750" h="1428750">
                <a:moveTo>
                  <a:pt x="0" y="0"/>
                </a:moveTo>
                <a:lnTo>
                  <a:pt x="1428750" y="0"/>
                </a:lnTo>
                <a:lnTo>
                  <a:pt x="1428750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7797256" y="3651726"/>
            <a:ext cx="2857500" cy="110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D3538"/>
                </a:solidFill>
                <a:latin typeface="Lato Bold"/>
                <a:ea typeface="Lato Bold"/>
                <a:cs typeface="Lato Bold"/>
                <a:sym typeface="Lato Bold"/>
              </a:rPr>
              <a:t>Centralized Marketplace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99528" y="3651091"/>
            <a:ext cx="2857500" cy="110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D3538"/>
                </a:solidFill>
                <a:latin typeface="Lato Bold"/>
                <a:ea typeface="Lato Bold"/>
                <a:cs typeface="Lato Bold"/>
                <a:sym typeface="Lato Bold"/>
              </a:rPr>
              <a:t>Streamlined Onboarding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099528" y="7116604"/>
            <a:ext cx="2857500" cy="110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D3538"/>
                </a:solidFill>
                <a:latin typeface="Lato Bold"/>
                <a:ea typeface="Lato Bold"/>
                <a:cs typeface="Lato Bold"/>
                <a:sym typeface="Lato Bold"/>
              </a:rPr>
              <a:t>Enhanced User</a:t>
            </a:r>
          </a:p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D3538"/>
                </a:solidFill>
                <a:latin typeface="Lato Bold"/>
                <a:ea typeface="Lato Bold"/>
                <a:cs typeface="Lato Bold"/>
                <a:sym typeface="Lato Bold"/>
              </a:rPr>
              <a:t>Experience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797256" y="7117239"/>
            <a:ext cx="2857500" cy="110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2D3538"/>
                </a:solidFill>
                <a:latin typeface="Lato Bold"/>
                <a:ea typeface="Lato Bold"/>
                <a:cs typeface="Lato Bold"/>
                <a:sym typeface="Lato Bold"/>
              </a:rPr>
              <a:t>Automated Revenue Share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3643630"/>
            <a:ext cx="4714875" cy="1953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FFFFFF"/>
                </a:solidFill>
                <a:latin typeface="Lato Heavy"/>
                <a:ea typeface="Lato Heavy"/>
                <a:cs typeface="Lato Heavy"/>
                <a:sym typeface="Lato Heavy"/>
              </a:rPr>
              <a:t>Business Requirements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685775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770594" cy="10287000"/>
            <a:chOff x="0" y="0"/>
            <a:chExt cx="178320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3202" cy="2709333"/>
            </a:xfrm>
            <a:custGeom>
              <a:avLst/>
              <a:gdLst/>
              <a:ahLst/>
              <a:cxnLst/>
              <a:rect l="l" t="t" r="r" b="b"/>
              <a:pathLst>
                <a:path w="1783202" h="2709333">
                  <a:moveTo>
                    <a:pt x="0" y="0"/>
                  </a:moveTo>
                  <a:lnTo>
                    <a:pt x="1783202" y="0"/>
                  </a:lnTo>
                  <a:lnTo>
                    <a:pt x="178320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8320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5324660" y="9048119"/>
            <a:ext cx="596043" cy="59604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089184" y="9601200"/>
            <a:ext cx="2890452" cy="382985"/>
          </a:xfrm>
          <a:custGeom>
            <a:avLst/>
            <a:gdLst/>
            <a:ahLst/>
            <a:cxnLst/>
            <a:rect l="l" t="t" r="r" b="b"/>
            <a:pathLst>
              <a:path w="2890452" h="382985">
                <a:moveTo>
                  <a:pt x="0" y="0"/>
                </a:moveTo>
                <a:lnTo>
                  <a:pt x="2890452" y="0"/>
                </a:lnTo>
                <a:lnTo>
                  <a:pt x="2890452" y="382985"/>
                </a:lnTo>
                <a:lnTo>
                  <a:pt x="0" y="382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7802049" y="1028700"/>
          <a:ext cx="9457251" cy="8230668"/>
        </p:xfrm>
        <a:graphic>
          <a:graphicData uri="http://schemas.openxmlformats.org/drawingml/2006/table">
            <a:tbl>
              <a:tblPr/>
              <a:tblGrid>
                <a:gridCol w="1338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8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44581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🟩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2D3538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Partner onboarding: </a:t>
                      </a:r>
                      <a:r>
                        <a:rPr lang="en-US" sz="26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Automated registration, validation, and profile management.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9687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🟩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2D3538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Marketplace features: </a:t>
                      </a:r>
                      <a:r>
                        <a:rPr lang="en-US" sz="26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Search, filter, and AI-based recommendations for partner services.</a:t>
                      </a:r>
                      <a:r>
                        <a:rPr lang="en-US" sz="2600" b="1">
                          <a:solidFill>
                            <a:srgbClr val="2D3538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 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🟩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2D3538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Transactions: </a:t>
                      </a:r>
                      <a:r>
                        <a:rPr lang="en-US" sz="26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Secure payments, automated commission calculations, and revenue sharing.</a:t>
                      </a:r>
                      <a:r>
                        <a:rPr lang="en-US" sz="2600" b="1">
                          <a:solidFill>
                            <a:srgbClr val="2D3538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 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🟩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2D3538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Analytics: </a:t>
                      </a:r>
                      <a:r>
                        <a:rPr lang="en-US" sz="26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Real-time dashboards for performance tracking and paid insights.</a:t>
                      </a:r>
                      <a:r>
                        <a:rPr lang="en-US" sz="2600" b="1">
                          <a:solidFill>
                            <a:srgbClr val="2D3538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 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🟩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2D3538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Support: </a:t>
                      </a:r>
                      <a:r>
                        <a:rPr lang="en-US" sz="26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Ticketing system, FAQs, and premium support packages.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🟩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2D3538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Monetization: </a:t>
                      </a:r>
                      <a:r>
                        <a:rPr lang="en-US" sz="26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Transaction fees, subscriptions, advertising, API fees, and analytics services.</a:t>
                      </a:r>
                      <a:r>
                        <a:rPr lang="en-US" sz="2600" b="1">
                          <a:solidFill>
                            <a:srgbClr val="2D3538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 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0" name="Group 10"/>
          <p:cNvGrpSpPr/>
          <p:nvPr/>
        </p:nvGrpSpPr>
        <p:grpSpPr>
          <a:xfrm>
            <a:off x="16401915" y="212349"/>
            <a:ext cx="1652841" cy="165284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38884" y="0"/>
                  </a:moveTo>
                  <a:lnTo>
                    <a:pt x="573916" y="0"/>
                  </a:lnTo>
                  <a:cubicBezTo>
                    <a:pt x="705848" y="0"/>
                    <a:pt x="812800" y="106952"/>
                    <a:pt x="812800" y="238884"/>
                  </a:cubicBezTo>
                  <a:lnTo>
                    <a:pt x="812800" y="573916"/>
                  </a:lnTo>
                  <a:cubicBezTo>
                    <a:pt x="812800" y="705848"/>
                    <a:pt x="705848" y="812800"/>
                    <a:pt x="573916" y="812800"/>
                  </a:cubicBezTo>
                  <a:lnTo>
                    <a:pt x="238884" y="812800"/>
                  </a:lnTo>
                  <a:cubicBezTo>
                    <a:pt x="106952" y="812800"/>
                    <a:pt x="0" y="705848"/>
                    <a:pt x="0" y="573916"/>
                  </a:cubicBezTo>
                  <a:lnTo>
                    <a:pt x="0" y="238884"/>
                  </a:lnTo>
                  <a:cubicBezTo>
                    <a:pt x="0" y="106952"/>
                    <a:pt x="106952" y="0"/>
                    <a:pt x="238884" y="0"/>
                  </a:cubicBezTo>
                  <a:close/>
                </a:path>
              </a:pathLst>
            </a:custGeom>
            <a:solidFill>
              <a:srgbClr val="338A31">
                <a:alpha val="2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204808" y="0"/>
            <a:ext cx="771724" cy="771724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338A31">
                  <a:alpha val="4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99385" y="8861085"/>
            <a:ext cx="3744615" cy="3744615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338A31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28700" y="2950209"/>
            <a:ext cx="4715715" cy="4386582"/>
            <a:chOff x="0" y="0"/>
            <a:chExt cx="6287621" cy="5848776"/>
          </a:xfrm>
        </p:grpSpPr>
        <p:sp>
          <p:nvSpPr>
            <p:cNvPr id="20" name="AutoShape 20"/>
            <p:cNvSpPr/>
            <p:nvPr/>
          </p:nvSpPr>
          <p:spPr>
            <a:xfrm>
              <a:off x="0" y="3282730"/>
              <a:ext cx="1746800" cy="0"/>
            </a:xfrm>
            <a:prstGeom prst="line">
              <a:avLst/>
            </a:prstGeom>
            <a:ln w="1270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21" y="-114300"/>
              <a:ext cx="6286500" cy="25662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40"/>
                </a:lnSpc>
              </a:pPr>
              <a:r>
                <a:rPr lang="en-US" sz="5600" b="1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Solution Requirement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4028443"/>
              <a:ext cx="6286500" cy="18203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599"/>
                </a:lnSpc>
              </a:pPr>
              <a:r>
                <a:rPr lang="en-US" sz="3999" b="1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Functional requirements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773555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770594" cy="10287000"/>
            <a:chOff x="0" y="0"/>
            <a:chExt cx="178320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3202" cy="2709333"/>
            </a:xfrm>
            <a:custGeom>
              <a:avLst/>
              <a:gdLst/>
              <a:ahLst/>
              <a:cxnLst/>
              <a:rect l="l" t="t" r="r" b="b"/>
              <a:pathLst>
                <a:path w="1783202" h="2709333">
                  <a:moveTo>
                    <a:pt x="0" y="0"/>
                  </a:moveTo>
                  <a:lnTo>
                    <a:pt x="1783202" y="0"/>
                  </a:lnTo>
                  <a:lnTo>
                    <a:pt x="178320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8320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5324660" y="9048119"/>
            <a:ext cx="596043" cy="59604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089184" y="9601200"/>
            <a:ext cx="2890452" cy="382985"/>
          </a:xfrm>
          <a:custGeom>
            <a:avLst/>
            <a:gdLst/>
            <a:ahLst/>
            <a:cxnLst/>
            <a:rect l="l" t="t" r="r" b="b"/>
            <a:pathLst>
              <a:path w="2890452" h="382985">
                <a:moveTo>
                  <a:pt x="0" y="0"/>
                </a:moveTo>
                <a:lnTo>
                  <a:pt x="2890452" y="0"/>
                </a:lnTo>
                <a:lnTo>
                  <a:pt x="2890452" y="382985"/>
                </a:lnTo>
                <a:lnTo>
                  <a:pt x="0" y="382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7802049" y="1028700"/>
          <a:ext cx="9457251" cy="8230668"/>
        </p:xfrm>
        <a:graphic>
          <a:graphicData uri="http://schemas.openxmlformats.org/drawingml/2006/table">
            <a:tbl>
              <a:tblPr/>
              <a:tblGrid>
                <a:gridCol w="1338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8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44581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🟨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2D3538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Performance: </a:t>
                      </a:r>
                      <a:r>
                        <a:rPr lang="en-US" sz="26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Handle 10,000+ users, &lt;2s page load, &lt;3s transaction processing.</a:t>
                      </a:r>
                      <a:r>
                        <a:rPr lang="en-US" sz="2600" b="1">
                          <a:solidFill>
                            <a:srgbClr val="2D3538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 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9687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🟨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2D3538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Scalability: </a:t>
                      </a:r>
                      <a:r>
                        <a:rPr lang="en-US" sz="26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Support 10x growth and peak traffic.</a:t>
                      </a:r>
                      <a:r>
                        <a:rPr lang="en-US" sz="2600" b="1">
                          <a:solidFill>
                            <a:srgbClr val="2D3538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 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🟨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2D3538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Security: </a:t>
                      </a:r>
                      <a:r>
                        <a:rPr lang="en-US" sz="26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PCI-DSS compliance, encryption, and regular audits.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🟨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2D3538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Usability: </a:t>
                      </a:r>
                      <a:r>
                        <a:rPr lang="en-US" sz="26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Intuitive design, WCAG compliance, and cross-device support.</a:t>
                      </a:r>
                      <a:r>
                        <a:rPr lang="en-US" sz="2600" b="1">
                          <a:solidFill>
                            <a:srgbClr val="2D3538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 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🟨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2D3538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Reliability: </a:t>
                      </a:r>
                      <a:r>
                        <a:rPr lang="en-US" sz="26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99.9% uptime, backups, and disaster recovery.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🟨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b="1">
                          <a:solidFill>
                            <a:srgbClr val="2D3538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Compliance: </a:t>
                      </a:r>
                      <a:r>
                        <a:rPr lang="en-US" sz="26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GDPR, CCPA, and Shopify API policies.</a:t>
                      </a:r>
                      <a:endParaRPr lang="en-US" sz="1100"/>
                    </a:p>
                  </a:txBody>
                  <a:tcPr marL="171450" marR="171450" marT="171450" marB="171450" anchor="ctr">
                    <a:lnL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0" name="Group 10"/>
          <p:cNvGrpSpPr/>
          <p:nvPr/>
        </p:nvGrpSpPr>
        <p:grpSpPr>
          <a:xfrm>
            <a:off x="16401915" y="212349"/>
            <a:ext cx="1652841" cy="165284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38884" y="0"/>
                  </a:moveTo>
                  <a:lnTo>
                    <a:pt x="573916" y="0"/>
                  </a:lnTo>
                  <a:cubicBezTo>
                    <a:pt x="705848" y="0"/>
                    <a:pt x="812800" y="106952"/>
                    <a:pt x="812800" y="238884"/>
                  </a:cubicBezTo>
                  <a:lnTo>
                    <a:pt x="812800" y="573916"/>
                  </a:lnTo>
                  <a:cubicBezTo>
                    <a:pt x="812800" y="705848"/>
                    <a:pt x="705848" y="812800"/>
                    <a:pt x="573916" y="812800"/>
                  </a:cubicBezTo>
                  <a:lnTo>
                    <a:pt x="238884" y="812800"/>
                  </a:lnTo>
                  <a:cubicBezTo>
                    <a:pt x="106952" y="812800"/>
                    <a:pt x="0" y="705848"/>
                    <a:pt x="0" y="573916"/>
                  </a:cubicBezTo>
                  <a:lnTo>
                    <a:pt x="0" y="238884"/>
                  </a:lnTo>
                  <a:cubicBezTo>
                    <a:pt x="0" y="106952"/>
                    <a:pt x="106952" y="0"/>
                    <a:pt x="238884" y="0"/>
                  </a:cubicBezTo>
                  <a:close/>
                </a:path>
              </a:pathLst>
            </a:custGeom>
            <a:solidFill>
              <a:srgbClr val="338A31">
                <a:alpha val="2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204808" y="0"/>
            <a:ext cx="771724" cy="771724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338A31">
                  <a:alpha val="4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99385" y="8861085"/>
            <a:ext cx="3744615" cy="3744615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338A31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28700" y="2950209"/>
            <a:ext cx="4715715" cy="4386582"/>
            <a:chOff x="0" y="0"/>
            <a:chExt cx="6287621" cy="5848776"/>
          </a:xfrm>
        </p:grpSpPr>
        <p:sp>
          <p:nvSpPr>
            <p:cNvPr id="20" name="AutoShape 20"/>
            <p:cNvSpPr/>
            <p:nvPr/>
          </p:nvSpPr>
          <p:spPr>
            <a:xfrm>
              <a:off x="0" y="3282730"/>
              <a:ext cx="1746800" cy="0"/>
            </a:xfrm>
            <a:prstGeom prst="line">
              <a:avLst/>
            </a:prstGeom>
            <a:ln w="1270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21" y="-114300"/>
              <a:ext cx="6286500" cy="25662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40"/>
                </a:lnSpc>
              </a:pPr>
              <a:r>
                <a:rPr lang="en-US" sz="5600" b="1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Solution Requirement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4028443"/>
              <a:ext cx="6286500" cy="18203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599"/>
                </a:lnSpc>
              </a:pPr>
              <a:r>
                <a:rPr lang="en-US" sz="3999" b="1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Non-functional requirements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769745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43607" y="7385993"/>
            <a:ext cx="3744615" cy="374461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338A31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089184" y="9601200"/>
            <a:ext cx="2890452" cy="382985"/>
          </a:xfrm>
          <a:custGeom>
            <a:avLst/>
            <a:gdLst/>
            <a:ahLst/>
            <a:cxnLst/>
            <a:rect l="l" t="t" r="r" b="b"/>
            <a:pathLst>
              <a:path w="2890452" h="382985">
                <a:moveTo>
                  <a:pt x="0" y="0"/>
                </a:moveTo>
                <a:lnTo>
                  <a:pt x="2890452" y="0"/>
                </a:lnTo>
                <a:lnTo>
                  <a:pt x="2890452" y="382985"/>
                </a:lnTo>
                <a:lnTo>
                  <a:pt x="0" y="382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 rot="5400000">
            <a:off x="15472638" y="340111"/>
            <a:ext cx="1479329" cy="1479329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66903" y="0"/>
                  </a:moveTo>
                  <a:lnTo>
                    <a:pt x="545897" y="0"/>
                  </a:lnTo>
                  <a:cubicBezTo>
                    <a:pt x="693303" y="0"/>
                    <a:pt x="812800" y="119497"/>
                    <a:pt x="812800" y="266903"/>
                  </a:cubicBezTo>
                  <a:lnTo>
                    <a:pt x="812800" y="545897"/>
                  </a:lnTo>
                  <a:cubicBezTo>
                    <a:pt x="812800" y="693303"/>
                    <a:pt x="693303" y="812800"/>
                    <a:pt x="545897" y="812800"/>
                  </a:cubicBezTo>
                  <a:lnTo>
                    <a:pt x="266903" y="812800"/>
                  </a:lnTo>
                  <a:cubicBezTo>
                    <a:pt x="119497" y="812800"/>
                    <a:pt x="0" y="693303"/>
                    <a:pt x="0" y="545897"/>
                  </a:cubicBezTo>
                  <a:lnTo>
                    <a:pt x="0" y="266903"/>
                  </a:lnTo>
                  <a:cubicBezTo>
                    <a:pt x="0" y="119497"/>
                    <a:pt x="119497" y="0"/>
                    <a:pt x="266903" y="0"/>
                  </a:cubicBezTo>
                  <a:close/>
                </a:path>
              </a:pathLst>
            </a:custGeom>
            <a:solidFill>
              <a:srgbClr val="338A31">
                <a:alpha val="2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16487576" y="1219358"/>
            <a:ext cx="771724" cy="77172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5BA62C">
                  <a:alpha val="4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028700" y="2259451"/>
            <a:ext cx="10850929" cy="6998849"/>
          </a:xfrm>
          <a:custGeom>
            <a:avLst/>
            <a:gdLst/>
            <a:ahLst/>
            <a:cxnLst/>
            <a:rect l="l" t="t" r="r" b="b"/>
            <a:pathLst>
              <a:path w="10850929" h="6998849">
                <a:moveTo>
                  <a:pt x="0" y="0"/>
                </a:moveTo>
                <a:lnTo>
                  <a:pt x="10850929" y="0"/>
                </a:lnTo>
                <a:lnTo>
                  <a:pt x="10850929" y="6998849"/>
                </a:lnTo>
                <a:lnTo>
                  <a:pt x="0" y="6998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028700" y="914400"/>
            <a:ext cx="16230600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D3538"/>
                </a:solidFill>
                <a:latin typeface="Lato Heavy"/>
                <a:ea typeface="Lato Heavy"/>
                <a:cs typeface="Lato Heavy"/>
                <a:sym typeface="Lato Heavy"/>
              </a:rPr>
              <a:t>Revenue Sharing and Payment Process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879629" y="2534345"/>
            <a:ext cx="5379671" cy="6391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2D3538"/>
                </a:solidFill>
                <a:latin typeface="Lato Bold"/>
                <a:ea typeface="Lato Bold"/>
                <a:cs typeface="Lato Bold"/>
                <a:sym typeface="Lato Bold"/>
              </a:rPr>
              <a:t>Onboarding &amp; approval: </a:t>
            </a:r>
            <a:r>
              <a:rPr lang="en-US" sz="2600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Partners register, provide business and payment details, and undergo validation for approval to participate in revenue sharing.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2D3538"/>
              </a:solidFill>
              <a:latin typeface="Lato"/>
              <a:ea typeface="Lato"/>
              <a:cs typeface="Lato"/>
              <a:sym typeface="Lato"/>
            </a:endParaRP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 u="none" strike="noStrike">
                <a:solidFill>
                  <a:srgbClr val="2D3538"/>
                </a:solidFill>
                <a:latin typeface="Lato Bold"/>
                <a:ea typeface="Lato Bold"/>
                <a:cs typeface="Lato Bold"/>
                <a:sym typeface="Lato Bold"/>
              </a:rPr>
              <a:t>Revenue sharing &amp; payment: </a:t>
            </a:r>
            <a:r>
              <a:rPr lang="en-US" sz="2600" u="none" strike="noStrike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Approved partners calculate revenue shares, resolve discrepancies, subscribe to services, and receive payments through gateways like PayPal or Stripe.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705049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D3538"/>
                </a:solidFill>
                <a:latin typeface="Canva Sans"/>
                <a:ea typeface="Canva Sans"/>
                <a:cs typeface="Canva Sans"/>
                <a:sym typeface="Canva Sans"/>
              </a:rPr>
              <a:t>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15693" y="-2174505"/>
            <a:ext cx="3744615" cy="374461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338A31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089184" y="9601200"/>
            <a:ext cx="2890452" cy="382985"/>
          </a:xfrm>
          <a:custGeom>
            <a:avLst/>
            <a:gdLst/>
            <a:ahLst/>
            <a:cxnLst/>
            <a:rect l="l" t="t" r="r" b="b"/>
            <a:pathLst>
              <a:path w="2890452" h="382985">
                <a:moveTo>
                  <a:pt x="0" y="0"/>
                </a:moveTo>
                <a:lnTo>
                  <a:pt x="2890452" y="0"/>
                </a:lnTo>
                <a:lnTo>
                  <a:pt x="2890452" y="382985"/>
                </a:lnTo>
                <a:lnTo>
                  <a:pt x="0" y="382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0" y="0"/>
            <a:ext cx="6770594" cy="10287000"/>
            <a:chOff x="0" y="0"/>
            <a:chExt cx="1783202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83202" cy="2709333"/>
            </a:xfrm>
            <a:custGeom>
              <a:avLst/>
              <a:gdLst/>
              <a:ahLst/>
              <a:cxnLst/>
              <a:rect l="l" t="t" r="r" b="b"/>
              <a:pathLst>
                <a:path w="1783202" h="2709333">
                  <a:moveTo>
                    <a:pt x="0" y="0"/>
                  </a:moveTo>
                  <a:lnTo>
                    <a:pt x="1783202" y="0"/>
                  </a:lnTo>
                  <a:lnTo>
                    <a:pt x="178320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78320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1027860" y="6481445"/>
            <a:ext cx="1310100" cy="0"/>
          </a:xfrm>
          <a:prstGeom prst="line">
            <a:avLst/>
          </a:prstGeom>
          <a:ln w="952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 rot="5400000">
            <a:off x="6335543" y="8967207"/>
            <a:ext cx="1479329" cy="1479329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66903" y="0"/>
                  </a:moveTo>
                  <a:lnTo>
                    <a:pt x="545897" y="0"/>
                  </a:lnTo>
                  <a:cubicBezTo>
                    <a:pt x="693303" y="0"/>
                    <a:pt x="812800" y="119497"/>
                    <a:pt x="812800" y="266903"/>
                  </a:cubicBezTo>
                  <a:lnTo>
                    <a:pt x="812800" y="545897"/>
                  </a:lnTo>
                  <a:cubicBezTo>
                    <a:pt x="812800" y="693303"/>
                    <a:pt x="693303" y="812800"/>
                    <a:pt x="545897" y="812800"/>
                  </a:cubicBezTo>
                  <a:lnTo>
                    <a:pt x="266903" y="812800"/>
                  </a:lnTo>
                  <a:cubicBezTo>
                    <a:pt x="119497" y="812800"/>
                    <a:pt x="0" y="693303"/>
                    <a:pt x="0" y="545897"/>
                  </a:cubicBezTo>
                  <a:lnTo>
                    <a:pt x="0" y="266903"/>
                  </a:lnTo>
                  <a:cubicBezTo>
                    <a:pt x="0" y="119497"/>
                    <a:pt x="119497" y="0"/>
                    <a:pt x="266903" y="0"/>
                  </a:cubicBezTo>
                  <a:close/>
                </a:path>
              </a:pathLst>
            </a:custGeom>
            <a:solidFill>
              <a:srgbClr val="338A31">
                <a:alpha val="2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5400000">
            <a:off x="7350480" y="9846454"/>
            <a:ext cx="771724" cy="771724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5BA62C">
                  <a:alpha val="4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7283805" y="1566050"/>
          <a:ext cx="9975495" cy="5362958"/>
        </p:xfrm>
        <a:graphic>
          <a:graphicData uri="http://schemas.openxmlformats.org/drawingml/2006/table">
            <a:tbl>
              <a:tblPr/>
              <a:tblGrid>
                <a:gridCol w="1995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5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5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50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50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18398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Lato Heavy"/>
                          <a:ea typeface="Lato Heavy"/>
                          <a:cs typeface="Lato Heavy"/>
                          <a:sym typeface="Lato Heavy"/>
                        </a:rPr>
                        <a:t>Year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8A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Lato Heavy"/>
                          <a:ea typeface="Lato Heavy"/>
                          <a:cs typeface="Lato Heavy"/>
                          <a:sym typeface="Lato Heavy"/>
                        </a:rPr>
                        <a:t>Total Revenue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8A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Lato Heavy"/>
                          <a:ea typeface="Lato Heavy"/>
                          <a:cs typeface="Lato Heavy"/>
                          <a:sym typeface="Lato Heavy"/>
                        </a:rPr>
                        <a:t>Total Expenses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8A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Lato Heavy"/>
                          <a:ea typeface="Lato Heavy"/>
                          <a:cs typeface="Lato Heavy"/>
                          <a:sym typeface="Lato Heavy"/>
                        </a:rPr>
                        <a:t>Net Profit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8A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Lato Heavy"/>
                          <a:ea typeface="Lato Heavy"/>
                          <a:cs typeface="Lato Heavy"/>
                          <a:sym typeface="Lato Heavy"/>
                        </a:rPr>
                        <a:t>ROI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8A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114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$65.1M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$69.1M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-$8.8M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-12.78%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114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$135.4M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$90.8M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$24.0M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26.46%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114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$282.3M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$124.8M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$121.3M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97.20%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1140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20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$634.1M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$180.8M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$349.0M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192.99%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Box 17"/>
          <p:cNvSpPr txBox="1"/>
          <p:nvPr/>
        </p:nvSpPr>
        <p:spPr>
          <a:xfrm>
            <a:off x="1028700" y="3643630"/>
            <a:ext cx="4714875" cy="1953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FFFFFF"/>
                </a:solidFill>
                <a:latin typeface="Lato Heavy"/>
                <a:ea typeface="Lato Heavy"/>
                <a:cs typeface="Lato Heavy"/>
                <a:sym typeface="Lato Heavy"/>
              </a:rPr>
              <a:t>Financial Summary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83805" y="7239495"/>
            <a:ext cx="9975495" cy="148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Revenue grows nearly 10x from Year 5 to 20.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Marketplace becomes profitable by Year 10 and continues exponential return.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706975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15693" y="-2174505"/>
            <a:ext cx="3744615" cy="374461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338A31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089184" y="9601200"/>
            <a:ext cx="2890452" cy="382985"/>
          </a:xfrm>
          <a:custGeom>
            <a:avLst/>
            <a:gdLst/>
            <a:ahLst/>
            <a:cxnLst/>
            <a:rect l="l" t="t" r="r" b="b"/>
            <a:pathLst>
              <a:path w="2890452" h="382985">
                <a:moveTo>
                  <a:pt x="0" y="0"/>
                </a:moveTo>
                <a:lnTo>
                  <a:pt x="2890452" y="0"/>
                </a:lnTo>
                <a:lnTo>
                  <a:pt x="2890452" y="382985"/>
                </a:lnTo>
                <a:lnTo>
                  <a:pt x="0" y="382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0" y="0"/>
            <a:ext cx="6770594" cy="10287000"/>
            <a:chOff x="0" y="0"/>
            <a:chExt cx="1783202" cy="27093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83202" cy="2709333"/>
            </a:xfrm>
            <a:custGeom>
              <a:avLst/>
              <a:gdLst/>
              <a:ahLst/>
              <a:cxnLst/>
              <a:rect l="l" t="t" r="r" b="b"/>
              <a:pathLst>
                <a:path w="1783202" h="2709333">
                  <a:moveTo>
                    <a:pt x="0" y="0"/>
                  </a:moveTo>
                  <a:lnTo>
                    <a:pt x="1783202" y="0"/>
                  </a:lnTo>
                  <a:lnTo>
                    <a:pt x="178320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78320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6335543" y="8967207"/>
            <a:ext cx="1479329" cy="147932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66903" y="0"/>
                  </a:moveTo>
                  <a:lnTo>
                    <a:pt x="545897" y="0"/>
                  </a:lnTo>
                  <a:cubicBezTo>
                    <a:pt x="693303" y="0"/>
                    <a:pt x="812800" y="119497"/>
                    <a:pt x="812800" y="266903"/>
                  </a:cubicBezTo>
                  <a:lnTo>
                    <a:pt x="812800" y="545897"/>
                  </a:lnTo>
                  <a:cubicBezTo>
                    <a:pt x="812800" y="693303"/>
                    <a:pt x="693303" y="812800"/>
                    <a:pt x="545897" y="812800"/>
                  </a:cubicBezTo>
                  <a:lnTo>
                    <a:pt x="266903" y="812800"/>
                  </a:lnTo>
                  <a:cubicBezTo>
                    <a:pt x="119497" y="812800"/>
                    <a:pt x="0" y="693303"/>
                    <a:pt x="0" y="545897"/>
                  </a:cubicBezTo>
                  <a:lnTo>
                    <a:pt x="0" y="266903"/>
                  </a:lnTo>
                  <a:cubicBezTo>
                    <a:pt x="0" y="119497"/>
                    <a:pt x="119497" y="0"/>
                    <a:pt x="266903" y="0"/>
                  </a:cubicBezTo>
                  <a:close/>
                </a:path>
              </a:pathLst>
            </a:custGeom>
            <a:solidFill>
              <a:srgbClr val="338A31">
                <a:alpha val="2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7350480" y="9846454"/>
            <a:ext cx="771724" cy="77172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5BA62C">
                  <a:alpha val="4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7283805" y="2326356"/>
          <a:ext cx="9975495" cy="4331590"/>
        </p:xfrm>
        <a:graphic>
          <a:graphicData uri="http://schemas.openxmlformats.org/drawingml/2006/table">
            <a:tbl>
              <a:tblPr/>
              <a:tblGrid>
                <a:gridCol w="1995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5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5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50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50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546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Lato Heavy"/>
                          <a:ea typeface="Lato Heavy"/>
                          <a:cs typeface="Lato Heavy"/>
                          <a:sym typeface="Lato Heavy"/>
                        </a:rPr>
                        <a:t>Metric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8A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Lato Heavy"/>
                          <a:ea typeface="Lato Heavy"/>
                          <a:cs typeface="Lato Heavy"/>
                          <a:sym typeface="Lato Heavy"/>
                        </a:rPr>
                        <a:t>Year 5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8A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Lato Heavy"/>
                          <a:ea typeface="Lato Heavy"/>
                          <a:cs typeface="Lato Heavy"/>
                          <a:sym typeface="Lato Heavy"/>
                        </a:rPr>
                        <a:t>Year 10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8A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Lato Heavy"/>
                          <a:ea typeface="Lato Heavy"/>
                          <a:cs typeface="Lato Heavy"/>
                          <a:sym typeface="Lato Heavy"/>
                        </a:rPr>
                        <a:t>Year 15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8A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latin typeface="Lato Heavy"/>
                          <a:ea typeface="Lato Heavy"/>
                          <a:cs typeface="Lato Heavy"/>
                          <a:sym typeface="Lato Heavy"/>
                        </a:rPr>
                        <a:t>Year 20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8A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9348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Active Merchants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10,000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25,000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45,000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70,000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9348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Bundled Adoption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Modarate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Very High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Platform Standard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9348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Partner Engagement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40%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75%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90%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95%</a:t>
                      </a:r>
                      <a:endParaRPr lang="en-US" sz="1100"/>
                    </a:p>
                  </a:txBody>
                  <a:tcPr marL="95250" marR="95250" marT="95250" marB="952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6" name="Group 16"/>
          <p:cNvGrpSpPr/>
          <p:nvPr/>
        </p:nvGrpSpPr>
        <p:grpSpPr>
          <a:xfrm>
            <a:off x="1027860" y="3394002"/>
            <a:ext cx="4715715" cy="3498996"/>
            <a:chOff x="0" y="0"/>
            <a:chExt cx="6287621" cy="4665327"/>
          </a:xfrm>
        </p:grpSpPr>
        <p:sp>
          <p:nvSpPr>
            <p:cNvPr id="17" name="AutoShape 17"/>
            <p:cNvSpPr/>
            <p:nvPr/>
          </p:nvSpPr>
          <p:spPr>
            <a:xfrm>
              <a:off x="0" y="4601827"/>
              <a:ext cx="1746800" cy="0"/>
            </a:xfrm>
            <a:prstGeom prst="line">
              <a:avLst/>
            </a:prstGeom>
            <a:ln w="1270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21" y="-114300"/>
              <a:ext cx="6286500" cy="38870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40"/>
                </a:lnSpc>
              </a:pPr>
              <a:r>
                <a:rPr lang="en-US" sz="5600" b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Merchant Growth &amp; Engagement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283805" y="6974489"/>
            <a:ext cx="9975495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AI matchmaking and bundled deals significantly boost merchant participation.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692845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14400"/>
            <a:ext cx="16230600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2D3538"/>
                </a:solidFill>
                <a:latin typeface="Lato Heavy"/>
                <a:ea typeface="Lato Heavy"/>
                <a:cs typeface="Lato Heavy"/>
                <a:sym typeface="Lato Heavy"/>
              </a:rPr>
              <a:t>Strategic Advantages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843607" y="7385993"/>
            <a:ext cx="3744615" cy="374461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338A31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089184" y="9601200"/>
            <a:ext cx="2890452" cy="382985"/>
          </a:xfrm>
          <a:custGeom>
            <a:avLst/>
            <a:gdLst/>
            <a:ahLst/>
            <a:cxnLst/>
            <a:rect l="l" t="t" r="r" b="b"/>
            <a:pathLst>
              <a:path w="2890452" h="382985">
                <a:moveTo>
                  <a:pt x="0" y="0"/>
                </a:moveTo>
                <a:lnTo>
                  <a:pt x="2890452" y="0"/>
                </a:lnTo>
                <a:lnTo>
                  <a:pt x="2890452" y="382985"/>
                </a:lnTo>
                <a:lnTo>
                  <a:pt x="0" y="382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 rot="5400000">
            <a:off x="15472638" y="340111"/>
            <a:ext cx="1479329" cy="1479329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66903" y="0"/>
                  </a:moveTo>
                  <a:lnTo>
                    <a:pt x="545897" y="0"/>
                  </a:lnTo>
                  <a:cubicBezTo>
                    <a:pt x="693303" y="0"/>
                    <a:pt x="812800" y="119497"/>
                    <a:pt x="812800" y="266903"/>
                  </a:cubicBezTo>
                  <a:lnTo>
                    <a:pt x="812800" y="545897"/>
                  </a:lnTo>
                  <a:cubicBezTo>
                    <a:pt x="812800" y="693303"/>
                    <a:pt x="693303" y="812800"/>
                    <a:pt x="545897" y="812800"/>
                  </a:cubicBezTo>
                  <a:lnTo>
                    <a:pt x="266903" y="812800"/>
                  </a:lnTo>
                  <a:cubicBezTo>
                    <a:pt x="119497" y="812800"/>
                    <a:pt x="0" y="693303"/>
                    <a:pt x="0" y="545897"/>
                  </a:cubicBezTo>
                  <a:lnTo>
                    <a:pt x="0" y="266903"/>
                  </a:lnTo>
                  <a:cubicBezTo>
                    <a:pt x="0" y="119497"/>
                    <a:pt x="119497" y="0"/>
                    <a:pt x="266903" y="0"/>
                  </a:cubicBezTo>
                  <a:close/>
                </a:path>
              </a:pathLst>
            </a:custGeom>
            <a:solidFill>
              <a:srgbClr val="338A31">
                <a:alpha val="2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5400000">
            <a:off x="16487576" y="1219358"/>
            <a:ext cx="771724" cy="7717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5BA62C">
                  <a:alpha val="4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922031" y="2253788"/>
            <a:ext cx="5881542" cy="3267075"/>
            <a:chOff x="0" y="0"/>
            <a:chExt cx="812800" cy="45149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451494"/>
            </a:xfrm>
            <a:custGeom>
              <a:avLst/>
              <a:gdLst/>
              <a:ahLst/>
              <a:cxnLst/>
              <a:rect l="l" t="t" r="r" b="b"/>
              <a:pathLst>
                <a:path w="812800" h="451494">
                  <a:moveTo>
                    <a:pt x="26326" y="0"/>
                  </a:moveTo>
                  <a:lnTo>
                    <a:pt x="786474" y="0"/>
                  </a:lnTo>
                  <a:cubicBezTo>
                    <a:pt x="793456" y="0"/>
                    <a:pt x="800152" y="2774"/>
                    <a:pt x="805089" y="7711"/>
                  </a:cubicBezTo>
                  <a:cubicBezTo>
                    <a:pt x="810026" y="12648"/>
                    <a:pt x="812800" y="19344"/>
                    <a:pt x="812800" y="26326"/>
                  </a:cubicBezTo>
                  <a:lnTo>
                    <a:pt x="812800" y="425167"/>
                  </a:lnTo>
                  <a:cubicBezTo>
                    <a:pt x="812800" y="432150"/>
                    <a:pt x="810026" y="438846"/>
                    <a:pt x="805089" y="443783"/>
                  </a:cubicBezTo>
                  <a:cubicBezTo>
                    <a:pt x="800152" y="448720"/>
                    <a:pt x="793456" y="451494"/>
                    <a:pt x="786474" y="451494"/>
                  </a:cubicBezTo>
                  <a:lnTo>
                    <a:pt x="26326" y="451494"/>
                  </a:lnTo>
                  <a:cubicBezTo>
                    <a:pt x="19344" y="451494"/>
                    <a:pt x="12648" y="448720"/>
                    <a:pt x="7711" y="443783"/>
                  </a:cubicBezTo>
                  <a:cubicBezTo>
                    <a:pt x="2774" y="438846"/>
                    <a:pt x="0" y="432150"/>
                    <a:pt x="0" y="425167"/>
                  </a:cubicBezTo>
                  <a:lnTo>
                    <a:pt x="0" y="26326"/>
                  </a:lnTo>
                  <a:cubicBezTo>
                    <a:pt x="0" y="19344"/>
                    <a:pt x="2774" y="12648"/>
                    <a:pt x="7711" y="7711"/>
                  </a:cubicBezTo>
                  <a:cubicBezTo>
                    <a:pt x="12648" y="2774"/>
                    <a:pt x="19344" y="0"/>
                    <a:pt x="26326" y="0"/>
                  </a:cubicBezTo>
                  <a:close/>
                </a:path>
              </a:pathLst>
            </a:custGeom>
            <a:solidFill>
              <a:srgbClr val="2D35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489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1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5747865" y="3467730"/>
            <a:ext cx="2054063" cy="2051055"/>
          </a:xfrm>
          <a:custGeom>
            <a:avLst/>
            <a:gdLst/>
            <a:ahLst/>
            <a:cxnLst/>
            <a:rect l="l" t="t" r="r" b="b"/>
            <a:pathLst>
              <a:path w="2054063" h="2051055">
                <a:moveTo>
                  <a:pt x="0" y="0"/>
                </a:moveTo>
                <a:lnTo>
                  <a:pt x="2054063" y="0"/>
                </a:lnTo>
                <a:lnTo>
                  <a:pt x="2054063" y="2051055"/>
                </a:lnTo>
                <a:lnTo>
                  <a:pt x="0" y="20510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</a:blip>
            <a:stretch>
              <a:fillRect r="-18711" b="-1888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4220194" y="5991225"/>
            <a:ext cx="5881542" cy="3267075"/>
            <a:chOff x="0" y="0"/>
            <a:chExt cx="812800" cy="45149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451494"/>
            </a:xfrm>
            <a:custGeom>
              <a:avLst/>
              <a:gdLst/>
              <a:ahLst/>
              <a:cxnLst/>
              <a:rect l="l" t="t" r="r" b="b"/>
              <a:pathLst>
                <a:path w="812800" h="451494">
                  <a:moveTo>
                    <a:pt x="26326" y="0"/>
                  </a:moveTo>
                  <a:lnTo>
                    <a:pt x="786474" y="0"/>
                  </a:lnTo>
                  <a:cubicBezTo>
                    <a:pt x="793456" y="0"/>
                    <a:pt x="800152" y="2774"/>
                    <a:pt x="805089" y="7711"/>
                  </a:cubicBezTo>
                  <a:cubicBezTo>
                    <a:pt x="810026" y="12648"/>
                    <a:pt x="812800" y="19344"/>
                    <a:pt x="812800" y="26326"/>
                  </a:cubicBezTo>
                  <a:lnTo>
                    <a:pt x="812800" y="425167"/>
                  </a:lnTo>
                  <a:cubicBezTo>
                    <a:pt x="812800" y="432150"/>
                    <a:pt x="810026" y="438846"/>
                    <a:pt x="805089" y="443783"/>
                  </a:cubicBezTo>
                  <a:cubicBezTo>
                    <a:pt x="800152" y="448720"/>
                    <a:pt x="793456" y="451494"/>
                    <a:pt x="786474" y="451494"/>
                  </a:cubicBezTo>
                  <a:lnTo>
                    <a:pt x="26326" y="451494"/>
                  </a:lnTo>
                  <a:cubicBezTo>
                    <a:pt x="19344" y="451494"/>
                    <a:pt x="12648" y="448720"/>
                    <a:pt x="7711" y="443783"/>
                  </a:cubicBezTo>
                  <a:cubicBezTo>
                    <a:pt x="2774" y="438846"/>
                    <a:pt x="0" y="432150"/>
                    <a:pt x="0" y="425167"/>
                  </a:cubicBezTo>
                  <a:lnTo>
                    <a:pt x="0" y="26326"/>
                  </a:lnTo>
                  <a:cubicBezTo>
                    <a:pt x="0" y="19344"/>
                    <a:pt x="2774" y="12648"/>
                    <a:pt x="7711" y="7711"/>
                  </a:cubicBezTo>
                  <a:cubicBezTo>
                    <a:pt x="12648" y="2774"/>
                    <a:pt x="19344" y="0"/>
                    <a:pt x="26326" y="0"/>
                  </a:cubicBez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12800" cy="489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1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8046028" y="7200900"/>
            <a:ext cx="2053330" cy="2055495"/>
          </a:xfrm>
          <a:custGeom>
            <a:avLst/>
            <a:gdLst/>
            <a:ahLst/>
            <a:cxnLst/>
            <a:rect l="l" t="t" r="r" b="b"/>
            <a:pathLst>
              <a:path w="2053330" h="2055495">
                <a:moveTo>
                  <a:pt x="0" y="0"/>
                </a:moveTo>
                <a:lnTo>
                  <a:pt x="2053330" y="0"/>
                </a:lnTo>
                <a:lnTo>
                  <a:pt x="2053330" y="2055495"/>
                </a:lnTo>
                <a:lnTo>
                  <a:pt x="0" y="2055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6000"/>
            </a:blip>
            <a:stretch>
              <a:fillRect r="-18753" b="-1862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8186265" y="2253788"/>
            <a:ext cx="5881542" cy="3267075"/>
            <a:chOff x="0" y="0"/>
            <a:chExt cx="812800" cy="45149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451494"/>
            </a:xfrm>
            <a:custGeom>
              <a:avLst/>
              <a:gdLst/>
              <a:ahLst/>
              <a:cxnLst/>
              <a:rect l="l" t="t" r="r" b="b"/>
              <a:pathLst>
                <a:path w="812800" h="451494">
                  <a:moveTo>
                    <a:pt x="26326" y="0"/>
                  </a:moveTo>
                  <a:lnTo>
                    <a:pt x="786474" y="0"/>
                  </a:lnTo>
                  <a:cubicBezTo>
                    <a:pt x="793456" y="0"/>
                    <a:pt x="800152" y="2774"/>
                    <a:pt x="805089" y="7711"/>
                  </a:cubicBezTo>
                  <a:cubicBezTo>
                    <a:pt x="810026" y="12648"/>
                    <a:pt x="812800" y="19344"/>
                    <a:pt x="812800" y="26326"/>
                  </a:cubicBezTo>
                  <a:lnTo>
                    <a:pt x="812800" y="425167"/>
                  </a:lnTo>
                  <a:cubicBezTo>
                    <a:pt x="812800" y="432150"/>
                    <a:pt x="810026" y="438846"/>
                    <a:pt x="805089" y="443783"/>
                  </a:cubicBezTo>
                  <a:cubicBezTo>
                    <a:pt x="800152" y="448720"/>
                    <a:pt x="793456" y="451494"/>
                    <a:pt x="786474" y="451494"/>
                  </a:cubicBezTo>
                  <a:lnTo>
                    <a:pt x="26326" y="451494"/>
                  </a:lnTo>
                  <a:cubicBezTo>
                    <a:pt x="19344" y="451494"/>
                    <a:pt x="12648" y="448720"/>
                    <a:pt x="7711" y="443783"/>
                  </a:cubicBezTo>
                  <a:cubicBezTo>
                    <a:pt x="2774" y="438846"/>
                    <a:pt x="0" y="432150"/>
                    <a:pt x="0" y="425167"/>
                  </a:cubicBezTo>
                  <a:lnTo>
                    <a:pt x="0" y="26326"/>
                  </a:lnTo>
                  <a:cubicBezTo>
                    <a:pt x="0" y="19344"/>
                    <a:pt x="2774" y="12648"/>
                    <a:pt x="7711" y="7711"/>
                  </a:cubicBezTo>
                  <a:cubicBezTo>
                    <a:pt x="12648" y="2774"/>
                    <a:pt x="19344" y="0"/>
                    <a:pt x="26326" y="0"/>
                  </a:cubicBez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812800" cy="489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1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2010406" y="3467730"/>
            <a:ext cx="2055161" cy="2049150"/>
          </a:xfrm>
          <a:custGeom>
            <a:avLst/>
            <a:gdLst/>
            <a:ahLst/>
            <a:cxnLst/>
            <a:rect l="l" t="t" r="r" b="b"/>
            <a:pathLst>
              <a:path w="2055161" h="2049150">
                <a:moveTo>
                  <a:pt x="0" y="0"/>
                </a:moveTo>
                <a:lnTo>
                  <a:pt x="2055162" y="0"/>
                </a:lnTo>
                <a:lnTo>
                  <a:pt x="2055162" y="2049150"/>
                </a:lnTo>
                <a:lnTo>
                  <a:pt x="0" y="20491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6000"/>
            </a:blip>
            <a:stretch>
              <a:fillRect r="-18647" b="-1899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>
            <a:off x="10484428" y="5991225"/>
            <a:ext cx="5881542" cy="3267075"/>
            <a:chOff x="0" y="0"/>
            <a:chExt cx="812800" cy="45149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451494"/>
            </a:xfrm>
            <a:custGeom>
              <a:avLst/>
              <a:gdLst/>
              <a:ahLst/>
              <a:cxnLst/>
              <a:rect l="l" t="t" r="r" b="b"/>
              <a:pathLst>
                <a:path w="812800" h="451494">
                  <a:moveTo>
                    <a:pt x="26326" y="0"/>
                  </a:moveTo>
                  <a:lnTo>
                    <a:pt x="786474" y="0"/>
                  </a:lnTo>
                  <a:cubicBezTo>
                    <a:pt x="793456" y="0"/>
                    <a:pt x="800152" y="2774"/>
                    <a:pt x="805089" y="7711"/>
                  </a:cubicBezTo>
                  <a:cubicBezTo>
                    <a:pt x="810026" y="12648"/>
                    <a:pt x="812800" y="19344"/>
                    <a:pt x="812800" y="26326"/>
                  </a:cubicBezTo>
                  <a:lnTo>
                    <a:pt x="812800" y="425167"/>
                  </a:lnTo>
                  <a:cubicBezTo>
                    <a:pt x="812800" y="432150"/>
                    <a:pt x="810026" y="438846"/>
                    <a:pt x="805089" y="443783"/>
                  </a:cubicBezTo>
                  <a:cubicBezTo>
                    <a:pt x="800152" y="448720"/>
                    <a:pt x="793456" y="451494"/>
                    <a:pt x="786474" y="451494"/>
                  </a:cubicBezTo>
                  <a:lnTo>
                    <a:pt x="26326" y="451494"/>
                  </a:lnTo>
                  <a:cubicBezTo>
                    <a:pt x="19344" y="451494"/>
                    <a:pt x="12648" y="448720"/>
                    <a:pt x="7711" y="443783"/>
                  </a:cubicBezTo>
                  <a:cubicBezTo>
                    <a:pt x="2774" y="438846"/>
                    <a:pt x="0" y="432150"/>
                    <a:pt x="0" y="425167"/>
                  </a:cubicBezTo>
                  <a:lnTo>
                    <a:pt x="0" y="26326"/>
                  </a:lnTo>
                  <a:cubicBezTo>
                    <a:pt x="0" y="19344"/>
                    <a:pt x="2774" y="12648"/>
                    <a:pt x="7711" y="7711"/>
                  </a:cubicBezTo>
                  <a:cubicBezTo>
                    <a:pt x="12648" y="2774"/>
                    <a:pt x="19344" y="0"/>
                    <a:pt x="26326" y="0"/>
                  </a:cubicBezTo>
                  <a:close/>
                </a:path>
              </a:pathLst>
            </a:custGeom>
            <a:solidFill>
              <a:srgbClr val="2D35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812800" cy="489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1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14308569" y="7200900"/>
            <a:ext cx="2056333" cy="2054542"/>
          </a:xfrm>
          <a:custGeom>
            <a:avLst/>
            <a:gdLst/>
            <a:ahLst/>
            <a:cxnLst/>
            <a:rect l="l" t="t" r="r" b="b"/>
            <a:pathLst>
              <a:path w="2056333" h="2054542">
                <a:moveTo>
                  <a:pt x="0" y="0"/>
                </a:moveTo>
                <a:lnTo>
                  <a:pt x="2056333" y="0"/>
                </a:lnTo>
                <a:lnTo>
                  <a:pt x="2056333" y="2054542"/>
                </a:lnTo>
                <a:lnTo>
                  <a:pt x="0" y="20545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6000"/>
            </a:blip>
            <a:stretch>
              <a:fillRect r="-18579" b="-1868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2305339" y="3160390"/>
            <a:ext cx="5114925" cy="148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Enhanced integrated revenue tracking &amp; partner success tools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305776" y="2568291"/>
            <a:ext cx="5114925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Platform lock-in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603939" y="6901358"/>
            <a:ext cx="5114925" cy="148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Scalable architecture supports 10x merchant expansion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603939" y="6305728"/>
            <a:ext cx="5114925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High scalability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570010" y="3160390"/>
            <a:ext cx="5114925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From subscriptions, ads, and API integrations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570010" y="2568291"/>
            <a:ext cx="5114925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Recurring revenue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868173" y="6901358"/>
            <a:ext cx="5114925" cy="197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Exclusive AI-driven matchmaking and performance-based discovery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868173" y="6305728"/>
            <a:ext cx="5114925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Competitive moat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769745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770594" cy="10287000"/>
            <a:chOff x="0" y="0"/>
            <a:chExt cx="178320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3202" cy="2709333"/>
            </a:xfrm>
            <a:custGeom>
              <a:avLst/>
              <a:gdLst/>
              <a:ahLst/>
              <a:cxnLst/>
              <a:rect l="l" t="t" r="r" b="b"/>
              <a:pathLst>
                <a:path w="1783202" h="2709333">
                  <a:moveTo>
                    <a:pt x="0" y="0"/>
                  </a:moveTo>
                  <a:lnTo>
                    <a:pt x="1783202" y="0"/>
                  </a:lnTo>
                  <a:lnTo>
                    <a:pt x="178320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8320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5324660" y="9048119"/>
            <a:ext cx="596043" cy="59604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7860" y="3395257"/>
            <a:ext cx="4715715" cy="3496485"/>
            <a:chOff x="0" y="0"/>
            <a:chExt cx="6287621" cy="4661980"/>
          </a:xfrm>
        </p:grpSpPr>
        <p:sp>
          <p:nvSpPr>
            <p:cNvPr id="9" name="AutoShape 9"/>
            <p:cNvSpPr/>
            <p:nvPr/>
          </p:nvSpPr>
          <p:spPr>
            <a:xfrm>
              <a:off x="0" y="4598480"/>
              <a:ext cx="1746800" cy="0"/>
            </a:xfrm>
            <a:prstGeom prst="line">
              <a:avLst/>
            </a:prstGeom>
            <a:ln w="1270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1" y="-114300"/>
              <a:ext cx="6286500" cy="38870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40"/>
                </a:lnSpc>
              </a:pPr>
              <a:r>
                <a:rPr lang="en-US" sz="5600" b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Business Analysis Approach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15089184" y="9601200"/>
            <a:ext cx="2890452" cy="382985"/>
          </a:xfrm>
          <a:custGeom>
            <a:avLst/>
            <a:gdLst/>
            <a:ahLst/>
            <a:cxnLst/>
            <a:rect l="l" t="t" r="r" b="b"/>
            <a:pathLst>
              <a:path w="2890452" h="382985">
                <a:moveTo>
                  <a:pt x="0" y="0"/>
                </a:moveTo>
                <a:lnTo>
                  <a:pt x="2890452" y="0"/>
                </a:lnTo>
                <a:lnTo>
                  <a:pt x="2890452" y="382985"/>
                </a:lnTo>
                <a:lnTo>
                  <a:pt x="0" y="382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6415693" y="-1872307"/>
            <a:ext cx="3744615" cy="3744615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338A31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799840" y="1384642"/>
            <a:ext cx="1124970" cy="1121993"/>
            <a:chOff x="0" y="0"/>
            <a:chExt cx="1499960" cy="149599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499960" cy="1495990"/>
              <a:chOff x="0" y="0"/>
              <a:chExt cx="296288" cy="295504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96288" cy="295504"/>
              </a:xfrm>
              <a:custGeom>
                <a:avLst/>
                <a:gdLst/>
                <a:ahLst/>
                <a:cxnLst/>
                <a:rect l="l" t="t" r="r" b="b"/>
                <a:pathLst>
                  <a:path w="296288" h="295504">
                    <a:moveTo>
                      <a:pt x="137638" y="0"/>
                    </a:moveTo>
                    <a:lnTo>
                      <a:pt x="158651" y="0"/>
                    </a:lnTo>
                    <a:cubicBezTo>
                      <a:pt x="195154" y="0"/>
                      <a:pt x="230163" y="14501"/>
                      <a:pt x="255975" y="40313"/>
                    </a:cubicBezTo>
                    <a:cubicBezTo>
                      <a:pt x="281787" y="66125"/>
                      <a:pt x="296288" y="101134"/>
                      <a:pt x="296288" y="137638"/>
                    </a:cubicBezTo>
                    <a:lnTo>
                      <a:pt x="296288" y="157866"/>
                    </a:lnTo>
                    <a:cubicBezTo>
                      <a:pt x="296288" y="233882"/>
                      <a:pt x="234666" y="295504"/>
                      <a:pt x="158651" y="295504"/>
                    </a:cubicBezTo>
                    <a:lnTo>
                      <a:pt x="137638" y="295504"/>
                    </a:lnTo>
                    <a:cubicBezTo>
                      <a:pt x="61623" y="295504"/>
                      <a:pt x="0" y="233882"/>
                      <a:pt x="0" y="157866"/>
                    </a:cubicBezTo>
                    <a:lnTo>
                      <a:pt x="0" y="137638"/>
                    </a:lnTo>
                    <a:cubicBezTo>
                      <a:pt x="0" y="61623"/>
                      <a:pt x="61623" y="0"/>
                      <a:pt x="137638" y="0"/>
                    </a:cubicBezTo>
                    <a:close/>
                  </a:path>
                </a:pathLst>
              </a:custGeom>
              <a:solidFill>
                <a:srgbClr val="2D353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28575"/>
                <a:ext cx="296288" cy="32407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l">
                  <a:lnSpc>
                    <a:spcPts val="2879"/>
                  </a:lnSpc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385364" y="466910"/>
              <a:ext cx="729231" cy="562171"/>
            </a:xfrm>
            <a:custGeom>
              <a:avLst/>
              <a:gdLst/>
              <a:ahLst/>
              <a:cxnLst/>
              <a:rect l="l" t="t" r="r" b="b"/>
              <a:pathLst>
                <a:path w="729231" h="562171">
                  <a:moveTo>
                    <a:pt x="0" y="0"/>
                  </a:moveTo>
                  <a:lnTo>
                    <a:pt x="729231" y="0"/>
                  </a:lnTo>
                  <a:lnTo>
                    <a:pt x="729231" y="562171"/>
                  </a:lnTo>
                  <a:lnTo>
                    <a:pt x="0" y="562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6912" y="1206671"/>
            <a:ext cx="7742388" cy="1477935"/>
            <a:chOff x="0" y="0"/>
            <a:chExt cx="10323183" cy="1970580"/>
          </a:xfrm>
        </p:grpSpPr>
        <p:sp>
          <p:nvSpPr>
            <p:cNvPr id="21" name="TextBox 21"/>
            <p:cNvSpPr txBox="1"/>
            <p:nvPr/>
          </p:nvSpPr>
          <p:spPr>
            <a:xfrm>
              <a:off x="0" y="677931"/>
              <a:ext cx="10323183" cy="12926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191919"/>
                  </a:solidFill>
                  <a:latin typeface="Lato"/>
                  <a:ea typeface="Lato"/>
                  <a:cs typeface="Lato"/>
                  <a:sym typeface="Lato"/>
                </a:rPr>
                <a:t>Hybrid approach effectively combining predictive and adaptive methods for enhancement.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10323183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191919"/>
                  </a:solidFill>
                  <a:latin typeface="Lato Bold"/>
                  <a:ea typeface="Lato Bold"/>
                  <a:cs typeface="Lato Bold"/>
                  <a:sym typeface="Lato Bold"/>
                </a:rPr>
                <a:t>Hybrid approach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799840" y="3575873"/>
            <a:ext cx="1124970" cy="1121993"/>
            <a:chOff x="0" y="0"/>
            <a:chExt cx="1499960" cy="1495990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1499960" cy="1495990"/>
              <a:chOff x="0" y="0"/>
              <a:chExt cx="296288" cy="295504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296288" cy="295504"/>
              </a:xfrm>
              <a:custGeom>
                <a:avLst/>
                <a:gdLst/>
                <a:ahLst/>
                <a:cxnLst/>
                <a:rect l="l" t="t" r="r" b="b"/>
                <a:pathLst>
                  <a:path w="296288" h="295504">
                    <a:moveTo>
                      <a:pt x="137638" y="0"/>
                    </a:moveTo>
                    <a:lnTo>
                      <a:pt x="158651" y="0"/>
                    </a:lnTo>
                    <a:cubicBezTo>
                      <a:pt x="195154" y="0"/>
                      <a:pt x="230163" y="14501"/>
                      <a:pt x="255975" y="40313"/>
                    </a:cubicBezTo>
                    <a:cubicBezTo>
                      <a:pt x="281787" y="66125"/>
                      <a:pt x="296288" y="101134"/>
                      <a:pt x="296288" y="137638"/>
                    </a:cubicBezTo>
                    <a:lnTo>
                      <a:pt x="296288" y="157866"/>
                    </a:lnTo>
                    <a:cubicBezTo>
                      <a:pt x="296288" y="233882"/>
                      <a:pt x="234666" y="295504"/>
                      <a:pt x="158651" y="295504"/>
                    </a:cubicBezTo>
                    <a:lnTo>
                      <a:pt x="137638" y="295504"/>
                    </a:lnTo>
                    <a:cubicBezTo>
                      <a:pt x="61623" y="295504"/>
                      <a:pt x="0" y="233882"/>
                      <a:pt x="0" y="157866"/>
                    </a:cubicBezTo>
                    <a:lnTo>
                      <a:pt x="0" y="137638"/>
                    </a:lnTo>
                    <a:cubicBezTo>
                      <a:pt x="0" y="61623"/>
                      <a:pt x="61623" y="0"/>
                      <a:pt x="137638" y="0"/>
                    </a:cubicBezTo>
                    <a:close/>
                  </a:path>
                </a:pathLst>
              </a:custGeom>
              <a:solidFill>
                <a:srgbClr val="338A31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28575"/>
                <a:ext cx="296288" cy="32407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l">
                  <a:lnSpc>
                    <a:spcPts val="2879"/>
                  </a:lnSpc>
                </a:pPr>
                <a:endParaRPr/>
              </a:p>
            </p:txBody>
          </p:sp>
        </p:grpSp>
        <p:sp>
          <p:nvSpPr>
            <p:cNvPr id="27" name="Freeform 27"/>
            <p:cNvSpPr/>
            <p:nvPr/>
          </p:nvSpPr>
          <p:spPr>
            <a:xfrm>
              <a:off x="385364" y="466910"/>
              <a:ext cx="729231" cy="562171"/>
            </a:xfrm>
            <a:custGeom>
              <a:avLst/>
              <a:gdLst/>
              <a:ahLst/>
              <a:cxnLst/>
              <a:rect l="l" t="t" r="r" b="b"/>
              <a:pathLst>
                <a:path w="729231" h="562171">
                  <a:moveTo>
                    <a:pt x="0" y="0"/>
                  </a:moveTo>
                  <a:lnTo>
                    <a:pt x="729231" y="0"/>
                  </a:lnTo>
                  <a:lnTo>
                    <a:pt x="729231" y="562171"/>
                  </a:lnTo>
                  <a:lnTo>
                    <a:pt x="0" y="562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6912" y="3397902"/>
            <a:ext cx="7742388" cy="1477935"/>
            <a:chOff x="0" y="0"/>
            <a:chExt cx="10323183" cy="1970580"/>
          </a:xfrm>
        </p:grpSpPr>
        <p:sp>
          <p:nvSpPr>
            <p:cNvPr id="29" name="TextBox 29"/>
            <p:cNvSpPr txBox="1"/>
            <p:nvPr/>
          </p:nvSpPr>
          <p:spPr>
            <a:xfrm>
              <a:off x="0" y="677931"/>
              <a:ext cx="10323183" cy="12926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191919"/>
                  </a:solidFill>
                  <a:latin typeface="Lato"/>
                  <a:ea typeface="Lato"/>
                  <a:cs typeface="Lato"/>
                  <a:sym typeface="Lato"/>
                </a:rPr>
                <a:t>API compliance standards, Data privacy protocols, Onboarding flows optimization.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10323183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191919"/>
                  </a:solidFill>
                  <a:latin typeface="Lato Bold"/>
                  <a:ea typeface="Lato Bold"/>
                  <a:cs typeface="Lato Bold"/>
                  <a:sym typeface="Lato Bold"/>
                </a:rPr>
                <a:t>Predictive use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799840" y="5767105"/>
            <a:ext cx="1124970" cy="1121993"/>
            <a:chOff x="0" y="0"/>
            <a:chExt cx="1499960" cy="1495990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1499960" cy="1495990"/>
              <a:chOff x="0" y="0"/>
              <a:chExt cx="296288" cy="295504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296288" cy="295504"/>
              </a:xfrm>
              <a:custGeom>
                <a:avLst/>
                <a:gdLst/>
                <a:ahLst/>
                <a:cxnLst/>
                <a:rect l="l" t="t" r="r" b="b"/>
                <a:pathLst>
                  <a:path w="296288" h="295504">
                    <a:moveTo>
                      <a:pt x="137638" y="0"/>
                    </a:moveTo>
                    <a:lnTo>
                      <a:pt x="158651" y="0"/>
                    </a:lnTo>
                    <a:cubicBezTo>
                      <a:pt x="195154" y="0"/>
                      <a:pt x="230163" y="14501"/>
                      <a:pt x="255975" y="40313"/>
                    </a:cubicBezTo>
                    <a:cubicBezTo>
                      <a:pt x="281787" y="66125"/>
                      <a:pt x="296288" y="101134"/>
                      <a:pt x="296288" y="137638"/>
                    </a:cubicBezTo>
                    <a:lnTo>
                      <a:pt x="296288" y="157866"/>
                    </a:lnTo>
                    <a:cubicBezTo>
                      <a:pt x="296288" y="233882"/>
                      <a:pt x="234666" y="295504"/>
                      <a:pt x="158651" y="295504"/>
                    </a:cubicBezTo>
                    <a:lnTo>
                      <a:pt x="137638" y="295504"/>
                    </a:lnTo>
                    <a:cubicBezTo>
                      <a:pt x="61623" y="295504"/>
                      <a:pt x="0" y="233882"/>
                      <a:pt x="0" y="157866"/>
                    </a:cubicBezTo>
                    <a:lnTo>
                      <a:pt x="0" y="137638"/>
                    </a:lnTo>
                    <a:cubicBezTo>
                      <a:pt x="0" y="61623"/>
                      <a:pt x="61623" y="0"/>
                      <a:pt x="137638" y="0"/>
                    </a:cubicBezTo>
                    <a:close/>
                  </a:path>
                </a:pathLst>
              </a:custGeom>
              <a:solidFill>
                <a:srgbClr val="2D353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28575"/>
                <a:ext cx="296288" cy="32407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l">
                  <a:lnSpc>
                    <a:spcPts val="2879"/>
                  </a:lnSpc>
                </a:pPr>
                <a:endParaRPr/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385364" y="466910"/>
              <a:ext cx="729231" cy="562171"/>
            </a:xfrm>
            <a:custGeom>
              <a:avLst/>
              <a:gdLst/>
              <a:ahLst/>
              <a:cxnLst/>
              <a:rect l="l" t="t" r="r" b="b"/>
              <a:pathLst>
                <a:path w="729231" h="562171">
                  <a:moveTo>
                    <a:pt x="0" y="0"/>
                  </a:moveTo>
                  <a:lnTo>
                    <a:pt x="729231" y="0"/>
                  </a:lnTo>
                  <a:lnTo>
                    <a:pt x="729231" y="562171"/>
                  </a:lnTo>
                  <a:lnTo>
                    <a:pt x="0" y="562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6912" y="5589134"/>
            <a:ext cx="7742388" cy="1477935"/>
            <a:chOff x="0" y="0"/>
            <a:chExt cx="10323183" cy="1970580"/>
          </a:xfrm>
        </p:grpSpPr>
        <p:sp>
          <p:nvSpPr>
            <p:cNvPr id="37" name="TextBox 37"/>
            <p:cNvSpPr txBox="1"/>
            <p:nvPr/>
          </p:nvSpPr>
          <p:spPr>
            <a:xfrm>
              <a:off x="0" y="677931"/>
              <a:ext cx="10323183" cy="12926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191919"/>
                  </a:solidFill>
                  <a:latin typeface="Lato"/>
                  <a:ea typeface="Lato"/>
                  <a:cs typeface="Lato"/>
                  <a:sym typeface="Lato"/>
                </a:rPr>
                <a:t>UX Design principles, Advanced analytics, Partner discovery features enhancement.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10323183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191919"/>
                  </a:solidFill>
                  <a:latin typeface="Lato Bold"/>
                  <a:ea typeface="Lato Bold"/>
                  <a:cs typeface="Lato Bold"/>
                  <a:sym typeface="Lato Bold"/>
                </a:rPr>
                <a:t>Adaptive use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799840" y="7958336"/>
            <a:ext cx="1124970" cy="1121993"/>
            <a:chOff x="0" y="0"/>
            <a:chExt cx="1499960" cy="1495990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1499960" cy="1495990"/>
              <a:chOff x="0" y="0"/>
              <a:chExt cx="296288" cy="295504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296288" cy="295504"/>
              </a:xfrm>
              <a:custGeom>
                <a:avLst/>
                <a:gdLst/>
                <a:ahLst/>
                <a:cxnLst/>
                <a:rect l="l" t="t" r="r" b="b"/>
                <a:pathLst>
                  <a:path w="296288" h="295504">
                    <a:moveTo>
                      <a:pt x="137638" y="0"/>
                    </a:moveTo>
                    <a:lnTo>
                      <a:pt x="158651" y="0"/>
                    </a:lnTo>
                    <a:cubicBezTo>
                      <a:pt x="195154" y="0"/>
                      <a:pt x="230163" y="14501"/>
                      <a:pt x="255975" y="40313"/>
                    </a:cubicBezTo>
                    <a:cubicBezTo>
                      <a:pt x="281787" y="66125"/>
                      <a:pt x="296288" y="101134"/>
                      <a:pt x="296288" y="137638"/>
                    </a:cubicBezTo>
                    <a:lnTo>
                      <a:pt x="296288" y="157866"/>
                    </a:lnTo>
                    <a:cubicBezTo>
                      <a:pt x="296288" y="233882"/>
                      <a:pt x="234666" y="295504"/>
                      <a:pt x="158651" y="295504"/>
                    </a:cubicBezTo>
                    <a:lnTo>
                      <a:pt x="137638" y="295504"/>
                    </a:lnTo>
                    <a:cubicBezTo>
                      <a:pt x="61623" y="295504"/>
                      <a:pt x="0" y="233882"/>
                      <a:pt x="0" y="157866"/>
                    </a:cubicBezTo>
                    <a:lnTo>
                      <a:pt x="0" y="137638"/>
                    </a:lnTo>
                    <a:cubicBezTo>
                      <a:pt x="0" y="61623"/>
                      <a:pt x="61623" y="0"/>
                      <a:pt x="137638" y="0"/>
                    </a:cubicBezTo>
                    <a:close/>
                  </a:path>
                </a:pathLst>
              </a:custGeom>
              <a:solidFill>
                <a:srgbClr val="338A31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28575"/>
                <a:ext cx="296288" cy="32407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l">
                  <a:lnSpc>
                    <a:spcPts val="2879"/>
                  </a:lnSpc>
                </a:pPr>
                <a:endParaRPr/>
              </a:p>
            </p:txBody>
          </p:sp>
        </p:grpSp>
        <p:sp>
          <p:nvSpPr>
            <p:cNvPr id="43" name="Freeform 43"/>
            <p:cNvSpPr/>
            <p:nvPr/>
          </p:nvSpPr>
          <p:spPr>
            <a:xfrm>
              <a:off x="385364" y="466910"/>
              <a:ext cx="729231" cy="562171"/>
            </a:xfrm>
            <a:custGeom>
              <a:avLst/>
              <a:gdLst/>
              <a:ahLst/>
              <a:cxnLst/>
              <a:rect l="l" t="t" r="r" b="b"/>
              <a:pathLst>
                <a:path w="729231" h="562171">
                  <a:moveTo>
                    <a:pt x="0" y="0"/>
                  </a:moveTo>
                  <a:lnTo>
                    <a:pt x="729231" y="0"/>
                  </a:lnTo>
                  <a:lnTo>
                    <a:pt x="729231" y="562171"/>
                  </a:lnTo>
                  <a:lnTo>
                    <a:pt x="0" y="562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6912" y="7780365"/>
            <a:ext cx="7742388" cy="1477935"/>
            <a:chOff x="0" y="0"/>
            <a:chExt cx="10323183" cy="1970580"/>
          </a:xfrm>
        </p:grpSpPr>
        <p:sp>
          <p:nvSpPr>
            <p:cNvPr id="45" name="TextBox 45"/>
            <p:cNvSpPr txBox="1"/>
            <p:nvPr/>
          </p:nvSpPr>
          <p:spPr>
            <a:xfrm>
              <a:off x="0" y="677931"/>
              <a:ext cx="10323183" cy="12926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191919"/>
                  </a:solidFill>
                  <a:latin typeface="Lato"/>
                  <a:ea typeface="Lato"/>
                  <a:cs typeface="Lato"/>
                  <a:sym typeface="Lato"/>
                </a:rPr>
                <a:t>Ensure alignment with business goals while staying flexible for feedback.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10323183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191919"/>
                  </a:solidFill>
                  <a:latin typeface="Lato Bold"/>
                  <a:ea typeface="Lato Bold"/>
                  <a:cs typeface="Lato Bold"/>
                  <a:sym typeface="Lato Bold"/>
                </a:rPr>
                <a:t>Goal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7676846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14400"/>
            <a:ext cx="16230600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2D3538"/>
                </a:solidFill>
                <a:latin typeface="Lato Heavy"/>
                <a:ea typeface="Lato Heavy"/>
                <a:cs typeface="Lato Heavy"/>
                <a:sym typeface="Lato Heavy"/>
              </a:rPr>
              <a:t>Risk For Merchant Marketplace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843607" y="7385993"/>
            <a:ext cx="3744615" cy="374461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338A31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089184" y="9601200"/>
            <a:ext cx="2890452" cy="382985"/>
          </a:xfrm>
          <a:custGeom>
            <a:avLst/>
            <a:gdLst/>
            <a:ahLst/>
            <a:cxnLst/>
            <a:rect l="l" t="t" r="r" b="b"/>
            <a:pathLst>
              <a:path w="2890452" h="382985">
                <a:moveTo>
                  <a:pt x="0" y="0"/>
                </a:moveTo>
                <a:lnTo>
                  <a:pt x="2890452" y="0"/>
                </a:lnTo>
                <a:lnTo>
                  <a:pt x="2890452" y="382985"/>
                </a:lnTo>
                <a:lnTo>
                  <a:pt x="0" y="382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 rot="5400000">
            <a:off x="15472638" y="340111"/>
            <a:ext cx="1479329" cy="1479329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66903" y="0"/>
                  </a:moveTo>
                  <a:lnTo>
                    <a:pt x="545897" y="0"/>
                  </a:lnTo>
                  <a:cubicBezTo>
                    <a:pt x="693303" y="0"/>
                    <a:pt x="812800" y="119497"/>
                    <a:pt x="812800" y="266903"/>
                  </a:cubicBezTo>
                  <a:lnTo>
                    <a:pt x="812800" y="545897"/>
                  </a:lnTo>
                  <a:cubicBezTo>
                    <a:pt x="812800" y="693303"/>
                    <a:pt x="693303" y="812800"/>
                    <a:pt x="545897" y="812800"/>
                  </a:cubicBezTo>
                  <a:lnTo>
                    <a:pt x="266903" y="812800"/>
                  </a:lnTo>
                  <a:cubicBezTo>
                    <a:pt x="119497" y="812800"/>
                    <a:pt x="0" y="693303"/>
                    <a:pt x="0" y="545897"/>
                  </a:cubicBezTo>
                  <a:lnTo>
                    <a:pt x="0" y="266903"/>
                  </a:lnTo>
                  <a:cubicBezTo>
                    <a:pt x="0" y="119497"/>
                    <a:pt x="119497" y="0"/>
                    <a:pt x="266903" y="0"/>
                  </a:cubicBezTo>
                  <a:close/>
                </a:path>
              </a:pathLst>
            </a:custGeom>
            <a:solidFill>
              <a:srgbClr val="338A31">
                <a:alpha val="2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5400000">
            <a:off x="16487576" y="1219358"/>
            <a:ext cx="771724" cy="7717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5BA62C">
                  <a:alpha val="4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922031" y="2253788"/>
            <a:ext cx="5881542" cy="3267075"/>
            <a:chOff x="0" y="0"/>
            <a:chExt cx="812800" cy="45149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451494"/>
            </a:xfrm>
            <a:custGeom>
              <a:avLst/>
              <a:gdLst/>
              <a:ahLst/>
              <a:cxnLst/>
              <a:rect l="l" t="t" r="r" b="b"/>
              <a:pathLst>
                <a:path w="812800" h="451494">
                  <a:moveTo>
                    <a:pt x="26326" y="0"/>
                  </a:moveTo>
                  <a:lnTo>
                    <a:pt x="786474" y="0"/>
                  </a:lnTo>
                  <a:cubicBezTo>
                    <a:pt x="793456" y="0"/>
                    <a:pt x="800152" y="2774"/>
                    <a:pt x="805089" y="7711"/>
                  </a:cubicBezTo>
                  <a:cubicBezTo>
                    <a:pt x="810026" y="12648"/>
                    <a:pt x="812800" y="19344"/>
                    <a:pt x="812800" y="26326"/>
                  </a:cubicBezTo>
                  <a:lnTo>
                    <a:pt x="812800" y="425167"/>
                  </a:lnTo>
                  <a:cubicBezTo>
                    <a:pt x="812800" y="432150"/>
                    <a:pt x="810026" y="438846"/>
                    <a:pt x="805089" y="443783"/>
                  </a:cubicBezTo>
                  <a:cubicBezTo>
                    <a:pt x="800152" y="448720"/>
                    <a:pt x="793456" y="451494"/>
                    <a:pt x="786474" y="451494"/>
                  </a:cubicBezTo>
                  <a:lnTo>
                    <a:pt x="26326" y="451494"/>
                  </a:lnTo>
                  <a:cubicBezTo>
                    <a:pt x="19344" y="451494"/>
                    <a:pt x="12648" y="448720"/>
                    <a:pt x="7711" y="443783"/>
                  </a:cubicBezTo>
                  <a:cubicBezTo>
                    <a:pt x="2774" y="438846"/>
                    <a:pt x="0" y="432150"/>
                    <a:pt x="0" y="425167"/>
                  </a:cubicBezTo>
                  <a:lnTo>
                    <a:pt x="0" y="26326"/>
                  </a:lnTo>
                  <a:cubicBezTo>
                    <a:pt x="0" y="19344"/>
                    <a:pt x="2774" y="12648"/>
                    <a:pt x="7711" y="7711"/>
                  </a:cubicBezTo>
                  <a:cubicBezTo>
                    <a:pt x="12648" y="2774"/>
                    <a:pt x="19344" y="0"/>
                    <a:pt x="26326" y="0"/>
                  </a:cubicBezTo>
                  <a:close/>
                </a:path>
              </a:pathLst>
            </a:custGeom>
            <a:solidFill>
              <a:srgbClr val="2D35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489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1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220194" y="5991225"/>
            <a:ext cx="5881542" cy="3267075"/>
            <a:chOff x="0" y="0"/>
            <a:chExt cx="812800" cy="45149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451494"/>
            </a:xfrm>
            <a:custGeom>
              <a:avLst/>
              <a:gdLst/>
              <a:ahLst/>
              <a:cxnLst/>
              <a:rect l="l" t="t" r="r" b="b"/>
              <a:pathLst>
                <a:path w="812800" h="451494">
                  <a:moveTo>
                    <a:pt x="26326" y="0"/>
                  </a:moveTo>
                  <a:lnTo>
                    <a:pt x="786474" y="0"/>
                  </a:lnTo>
                  <a:cubicBezTo>
                    <a:pt x="793456" y="0"/>
                    <a:pt x="800152" y="2774"/>
                    <a:pt x="805089" y="7711"/>
                  </a:cubicBezTo>
                  <a:cubicBezTo>
                    <a:pt x="810026" y="12648"/>
                    <a:pt x="812800" y="19344"/>
                    <a:pt x="812800" y="26326"/>
                  </a:cubicBezTo>
                  <a:lnTo>
                    <a:pt x="812800" y="425167"/>
                  </a:lnTo>
                  <a:cubicBezTo>
                    <a:pt x="812800" y="432150"/>
                    <a:pt x="810026" y="438846"/>
                    <a:pt x="805089" y="443783"/>
                  </a:cubicBezTo>
                  <a:cubicBezTo>
                    <a:pt x="800152" y="448720"/>
                    <a:pt x="793456" y="451494"/>
                    <a:pt x="786474" y="451494"/>
                  </a:cubicBezTo>
                  <a:lnTo>
                    <a:pt x="26326" y="451494"/>
                  </a:lnTo>
                  <a:cubicBezTo>
                    <a:pt x="19344" y="451494"/>
                    <a:pt x="12648" y="448720"/>
                    <a:pt x="7711" y="443783"/>
                  </a:cubicBezTo>
                  <a:cubicBezTo>
                    <a:pt x="2774" y="438846"/>
                    <a:pt x="0" y="432150"/>
                    <a:pt x="0" y="425167"/>
                  </a:cubicBezTo>
                  <a:lnTo>
                    <a:pt x="0" y="26326"/>
                  </a:lnTo>
                  <a:cubicBezTo>
                    <a:pt x="0" y="19344"/>
                    <a:pt x="2774" y="12648"/>
                    <a:pt x="7711" y="7711"/>
                  </a:cubicBezTo>
                  <a:cubicBezTo>
                    <a:pt x="12648" y="2774"/>
                    <a:pt x="19344" y="0"/>
                    <a:pt x="26326" y="0"/>
                  </a:cubicBez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812800" cy="489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1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186265" y="2253788"/>
            <a:ext cx="5881542" cy="3267075"/>
            <a:chOff x="0" y="0"/>
            <a:chExt cx="812800" cy="45149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451494"/>
            </a:xfrm>
            <a:custGeom>
              <a:avLst/>
              <a:gdLst/>
              <a:ahLst/>
              <a:cxnLst/>
              <a:rect l="l" t="t" r="r" b="b"/>
              <a:pathLst>
                <a:path w="812800" h="451494">
                  <a:moveTo>
                    <a:pt x="26326" y="0"/>
                  </a:moveTo>
                  <a:lnTo>
                    <a:pt x="786474" y="0"/>
                  </a:lnTo>
                  <a:cubicBezTo>
                    <a:pt x="793456" y="0"/>
                    <a:pt x="800152" y="2774"/>
                    <a:pt x="805089" y="7711"/>
                  </a:cubicBezTo>
                  <a:cubicBezTo>
                    <a:pt x="810026" y="12648"/>
                    <a:pt x="812800" y="19344"/>
                    <a:pt x="812800" y="26326"/>
                  </a:cubicBezTo>
                  <a:lnTo>
                    <a:pt x="812800" y="425167"/>
                  </a:lnTo>
                  <a:cubicBezTo>
                    <a:pt x="812800" y="432150"/>
                    <a:pt x="810026" y="438846"/>
                    <a:pt x="805089" y="443783"/>
                  </a:cubicBezTo>
                  <a:cubicBezTo>
                    <a:pt x="800152" y="448720"/>
                    <a:pt x="793456" y="451494"/>
                    <a:pt x="786474" y="451494"/>
                  </a:cubicBezTo>
                  <a:lnTo>
                    <a:pt x="26326" y="451494"/>
                  </a:lnTo>
                  <a:cubicBezTo>
                    <a:pt x="19344" y="451494"/>
                    <a:pt x="12648" y="448720"/>
                    <a:pt x="7711" y="443783"/>
                  </a:cubicBezTo>
                  <a:cubicBezTo>
                    <a:pt x="2774" y="438846"/>
                    <a:pt x="0" y="432150"/>
                    <a:pt x="0" y="425167"/>
                  </a:cubicBezTo>
                  <a:lnTo>
                    <a:pt x="0" y="26326"/>
                  </a:lnTo>
                  <a:cubicBezTo>
                    <a:pt x="0" y="19344"/>
                    <a:pt x="2774" y="12648"/>
                    <a:pt x="7711" y="7711"/>
                  </a:cubicBezTo>
                  <a:cubicBezTo>
                    <a:pt x="12648" y="2774"/>
                    <a:pt x="19344" y="0"/>
                    <a:pt x="26326" y="0"/>
                  </a:cubicBez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812800" cy="489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1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484428" y="5991225"/>
            <a:ext cx="5881542" cy="3267075"/>
            <a:chOff x="0" y="0"/>
            <a:chExt cx="812800" cy="45149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451494"/>
            </a:xfrm>
            <a:custGeom>
              <a:avLst/>
              <a:gdLst/>
              <a:ahLst/>
              <a:cxnLst/>
              <a:rect l="l" t="t" r="r" b="b"/>
              <a:pathLst>
                <a:path w="812800" h="451494">
                  <a:moveTo>
                    <a:pt x="26326" y="0"/>
                  </a:moveTo>
                  <a:lnTo>
                    <a:pt x="786474" y="0"/>
                  </a:lnTo>
                  <a:cubicBezTo>
                    <a:pt x="793456" y="0"/>
                    <a:pt x="800152" y="2774"/>
                    <a:pt x="805089" y="7711"/>
                  </a:cubicBezTo>
                  <a:cubicBezTo>
                    <a:pt x="810026" y="12648"/>
                    <a:pt x="812800" y="19344"/>
                    <a:pt x="812800" y="26326"/>
                  </a:cubicBezTo>
                  <a:lnTo>
                    <a:pt x="812800" y="425167"/>
                  </a:lnTo>
                  <a:cubicBezTo>
                    <a:pt x="812800" y="432150"/>
                    <a:pt x="810026" y="438846"/>
                    <a:pt x="805089" y="443783"/>
                  </a:cubicBezTo>
                  <a:cubicBezTo>
                    <a:pt x="800152" y="448720"/>
                    <a:pt x="793456" y="451494"/>
                    <a:pt x="786474" y="451494"/>
                  </a:cubicBezTo>
                  <a:lnTo>
                    <a:pt x="26326" y="451494"/>
                  </a:lnTo>
                  <a:cubicBezTo>
                    <a:pt x="19344" y="451494"/>
                    <a:pt x="12648" y="448720"/>
                    <a:pt x="7711" y="443783"/>
                  </a:cubicBezTo>
                  <a:cubicBezTo>
                    <a:pt x="2774" y="438846"/>
                    <a:pt x="0" y="432150"/>
                    <a:pt x="0" y="425167"/>
                  </a:cubicBezTo>
                  <a:lnTo>
                    <a:pt x="0" y="26326"/>
                  </a:lnTo>
                  <a:cubicBezTo>
                    <a:pt x="0" y="19344"/>
                    <a:pt x="2774" y="12648"/>
                    <a:pt x="7711" y="7711"/>
                  </a:cubicBezTo>
                  <a:cubicBezTo>
                    <a:pt x="12648" y="2774"/>
                    <a:pt x="19344" y="0"/>
                    <a:pt x="26326" y="0"/>
                  </a:cubicBezTo>
                  <a:close/>
                </a:path>
              </a:pathLst>
            </a:custGeom>
            <a:solidFill>
              <a:srgbClr val="2D353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812800" cy="489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1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2305776" y="3658230"/>
            <a:ext cx="5114925" cy="148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Worries regarding expenses and the intricacy of technology.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305776" y="2568291"/>
            <a:ext cx="5114925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Merchant hesitation due to costs/complexity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603939" y="7395667"/>
            <a:ext cx="5114925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Failure to provide updates causing employees to leave.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603939" y="6305728"/>
            <a:ext cx="5114925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Lack of new features leading to attrition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70010" y="3658230"/>
            <a:ext cx="5114925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Challenges in integrating with Shopify stores.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70010" y="2568291"/>
            <a:ext cx="5114925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Integration challenges with Shopify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868173" y="7395667"/>
            <a:ext cx="5114925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Damages the credibility of the marketplace.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868173" y="6305728"/>
            <a:ext cx="5114925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Fraud &amp; low-quality</a:t>
            </a: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merchants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7714946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770594" cy="10287000"/>
            <a:chOff x="0" y="0"/>
            <a:chExt cx="178320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3202" cy="2709333"/>
            </a:xfrm>
            <a:custGeom>
              <a:avLst/>
              <a:gdLst/>
              <a:ahLst/>
              <a:cxnLst/>
              <a:rect l="l" t="t" r="r" b="b"/>
              <a:pathLst>
                <a:path w="1783202" h="2709333">
                  <a:moveTo>
                    <a:pt x="0" y="0"/>
                  </a:moveTo>
                  <a:lnTo>
                    <a:pt x="1783202" y="0"/>
                  </a:lnTo>
                  <a:lnTo>
                    <a:pt x="178320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8320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5324660" y="9048119"/>
            <a:ext cx="596043" cy="59604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7860" y="3890557"/>
            <a:ext cx="4715715" cy="2505885"/>
            <a:chOff x="0" y="0"/>
            <a:chExt cx="6287621" cy="3341180"/>
          </a:xfrm>
        </p:grpSpPr>
        <p:sp>
          <p:nvSpPr>
            <p:cNvPr id="9" name="AutoShape 9"/>
            <p:cNvSpPr/>
            <p:nvPr/>
          </p:nvSpPr>
          <p:spPr>
            <a:xfrm>
              <a:off x="0" y="3277680"/>
              <a:ext cx="1746800" cy="0"/>
            </a:xfrm>
            <a:prstGeom prst="line">
              <a:avLst/>
            </a:prstGeom>
            <a:ln w="1270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1" y="-114300"/>
              <a:ext cx="6286500" cy="25662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40"/>
                </a:lnSpc>
              </a:pPr>
              <a:r>
                <a:rPr lang="en-US" sz="5600" b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Mitigation Strategies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15089184" y="9601200"/>
            <a:ext cx="2890452" cy="382985"/>
          </a:xfrm>
          <a:custGeom>
            <a:avLst/>
            <a:gdLst/>
            <a:ahLst/>
            <a:cxnLst/>
            <a:rect l="l" t="t" r="r" b="b"/>
            <a:pathLst>
              <a:path w="2890452" h="382985">
                <a:moveTo>
                  <a:pt x="0" y="0"/>
                </a:moveTo>
                <a:lnTo>
                  <a:pt x="2890452" y="0"/>
                </a:lnTo>
                <a:lnTo>
                  <a:pt x="2890452" y="382985"/>
                </a:lnTo>
                <a:lnTo>
                  <a:pt x="0" y="382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6415693" y="-1872307"/>
            <a:ext cx="3744615" cy="3744615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338A31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799840" y="1384642"/>
            <a:ext cx="1124970" cy="1121993"/>
            <a:chOff x="0" y="0"/>
            <a:chExt cx="1499960" cy="149599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499960" cy="1495990"/>
              <a:chOff x="0" y="0"/>
              <a:chExt cx="296288" cy="295504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96288" cy="295504"/>
              </a:xfrm>
              <a:custGeom>
                <a:avLst/>
                <a:gdLst/>
                <a:ahLst/>
                <a:cxnLst/>
                <a:rect l="l" t="t" r="r" b="b"/>
                <a:pathLst>
                  <a:path w="296288" h="295504">
                    <a:moveTo>
                      <a:pt x="137638" y="0"/>
                    </a:moveTo>
                    <a:lnTo>
                      <a:pt x="158651" y="0"/>
                    </a:lnTo>
                    <a:cubicBezTo>
                      <a:pt x="195154" y="0"/>
                      <a:pt x="230163" y="14501"/>
                      <a:pt x="255975" y="40313"/>
                    </a:cubicBezTo>
                    <a:cubicBezTo>
                      <a:pt x="281787" y="66125"/>
                      <a:pt x="296288" y="101134"/>
                      <a:pt x="296288" y="137638"/>
                    </a:cubicBezTo>
                    <a:lnTo>
                      <a:pt x="296288" y="157866"/>
                    </a:lnTo>
                    <a:cubicBezTo>
                      <a:pt x="296288" y="233882"/>
                      <a:pt x="234666" y="295504"/>
                      <a:pt x="158651" y="295504"/>
                    </a:cubicBezTo>
                    <a:lnTo>
                      <a:pt x="137638" y="295504"/>
                    </a:lnTo>
                    <a:cubicBezTo>
                      <a:pt x="61623" y="295504"/>
                      <a:pt x="0" y="233882"/>
                      <a:pt x="0" y="157866"/>
                    </a:cubicBezTo>
                    <a:lnTo>
                      <a:pt x="0" y="137638"/>
                    </a:lnTo>
                    <a:cubicBezTo>
                      <a:pt x="0" y="61623"/>
                      <a:pt x="61623" y="0"/>
                      <a:pt x="137638" y="0"/>
                    </a:cubicBezTo>
                    <a:close/>
                  </a:path>
                </a:pathLst>
              </a:custGeom>
              <a:solidFill>
                <a:srgbClr val="2D353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28575"/>
                <a:ext cx="296288" cy="32407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l">
                  <a:lnSpc>
                    <a:spcPts val="2879"/>
                  </a:lnSpc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385364" y="466910"/>
              <a:ext cx="729231" cy="562171"/>
            </a:xfrm>
            <a:custGeom>
              <a:avLst/>
              <a:gdLst/>
              <a:ahLst/>
              <a:cxnLst/>
              <a:rect l="l" t="t" r="r" b="b"/>
              <a:pathLst>
                <a:path w="729231" h="562171">
                  <a:moveTo>
                    <a:pt x="0" y="0"/>
                  </a:moveTo>
                  <a:lnTo>
                    <a:pt x="729231" y="0"/>
                  </a:lnTo>
                  <a:lnTo>
                    <a:pt x="729231" y="562171"/>
                  </a:lnTo>
                  <a:lnTo>
                    <a:pt x="0" y="562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6912" y="1206671"/>
            <a:ext cx="7742388" cy="1477935"/>
            <a:chOff x="0" y="0"/>
            <a:chExt cx="10323183" cy="1970580"/>
          </a:xfrm>
        </p:grpSpPr>
        <p:sp>
          <p:nvSpPr>
            <p:cNvPr id="21" name="TextBox 21"/>
            <p:cNvSpPr txBox="1"/>
            <p:nvPr/>
          </p:nvSpPr>
          <p:spPr>
            <a:xfrm>
              <a:off x="0" y="677931"/>
              <a:ext cx="10323183" cy="12926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191919"/>
                  </a:solidFill>
                  <a:latin typeface="Lato"/>
                  <a:ea typeface="Lato"/>
                  <a:cs typeface="Lato"/>
                  <a:sym typeface="Lato"/>
                </a:rPr>
                <a:t>Offer free trials and highlight success stories to alleviate cost and complexity concerns.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10323183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191919"/>
                  </a:solidFill>
                  <a:latin typeface="Lato Bold"/>
                  <a:ea typeface="Lato Bold"/>
                  <a:cs typeface="Lato Bold"/>
                  <a:sym typeface="Lato Bold"/>
                </a:rPr>
                <a:t>Free trials &amp; success stories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799840" y="3575873"/>
            <a:ext cx="1124970" cy="1121993"/>
            <a:chOff x="0" y="0"/>
            <a:chExt cx="1499960" cy="1495990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1499960" cy="1495990"/>
              <a:chOff x="0" y="0"/>
              <a:chExt cx="296288" cy="295504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296288" cy="295504"/>
              </a:xfrm>
              <a:custGeom>
                <a:avLst/>
                <a:gdLst/>
                <a:ahLst/>
                <a:cxnLst/>
                <a:rect l="l" t="t" r="r" b="b"/>
                <a:pathLst>
                  <a:path w="296288" h="295504">
                    <a:moveTo>
                      <a:pt x="137638" y="0"/>
                    </a:moveTo>
                    <a:lnTo>
                      <a:pt x="158651" y="0"/>
                    </a:lnTo>
                    <a:cubicBezTo>
                      <a:pt x="195154" y="0"/>
                      <a:pt x="230163" y="14501"/>
                      <a:pt x="255975" y="40313"/>
                    </a:cubicBezTo>
                    <a:cubicBezTo>
                      <a:pt x="281787" y="66125"/>
                      <a:pt x="296288" y="101134"/>
                      <a:pt x="296288" y="137638"/>
                    </a:cubicBezTo>
                    <a:lnTo>
                      <a:pt x="296288" y="157866"/>
                    </a:lnTo>
                    <a:cubicBezTo>
                      <a:pt x="296288" y="233882"/>
                      <a:pt x="234666" y="295504"/>
                      <a:pt x="158651" y="295504"/>
                    </a:cubicBezTo>
                    <a:lnTo>
                      <a:pt x="137638" y="295504"/>
                    </a:lnTo>
                    <a:cubicBezTo>
                      <a:pt x="61623" y="295504"/>
                      <a:pt x="0" y="233882"/>
                      <a:pt x="0" y="157866"/>
                    </a:cubicBezTo>
                    <a:lnTo>
                      <a:pt x="0" y="137638"/>
                    </a:lnTo>
                    <a:cubicBezTo>
                      <a:pt x="0" y="61623"/>
                      <a:pt x="61623" y="0"/>
                      <a:pt x="137638" y="0"/>
                    </a:cubicBezTo>
                    <a:close/>
                  </a:path>
                </a:pathLst>
              </a:custGeom>
              <a:solidFill>
                <a:srgbClr val="338A31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28575"/>
                <a:ext cx="296288" cy="32407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l">
                  <a:lnSpc>
                    <a:spcPts val="2879"/>
                  </a:lnSpc>
                </a:pPr>
                <a:endParaRPr/>
              </a:p>
            </p:txBody>
          </p:sp>
        </p:grpSp>
        <p:sp>
          <p:nvSpPr>
            <p:cNvPr id="27" name="Freeform 27"/>
            <p:cNvSpPr/>
            <p:nvPr/>
          </p:nvSpPr>
          <p:spPr>
            <a:xfrm>
              <a:off x="385364" y="466910"/>
              <a:ext cx="729231" cy="562171"/>
            </a:xfrm>
            <a:custGeom>
              <a:avLst/>
              <a:gdLst/>
              <a:ahLst/>
              <a:cxnLst/>
              <a:rect l="l" t="t" r="r" b="b"/>
              <a:pathLst>
                <a:path w="729231" h="562171">
                  <a:moveTo>
                    <a:pt x="0" y="0"/>
                  </a:moveTo>
                  <a:lnTo>
                    <a:pt x="729231" y="0"/>
                  </a:lnTo>
                  <a:lnTo>
                    <a:pt x="729231" y="562171"/>
                  </a:lnTo>
                  <a:lnTo>
                    <a:pt x="0" y="562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6912" y="3397902"/>
            <a:ext cx="7742388" cy="1477935"/>
            <a:chOff x="0" y="0"/>
            <a:chExt cx="10323183" cy="1970580"/>
          </a:xfrm>
        </p:grpSpPr>
        <p:sp>
          <p:nvSpPr>
            <p:cNvPr id="29" name="TextBox 29"/>
            <p:cNvSpPr txBox="1"/>
            <p:nvPr/>
          </p:nvSpPr>
          <p:spPr>
            <a:xfrm>
              <a:off x="0" y="677931"/>
              <a:ext cx="10323183" cy="12926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191919"/>
                  </a:solidFill>
                  <a:latin typeface="Lato"/>
                  <a:ea typeface="Lato"/>
                  <a:cs typeface="Lato"/>
                  <a:sym typeface="Lato"/>
                </a:rPr>
                <a:t>Provide technical support and onboarding resources to ease integration challenges.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10323183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191919"/>
                  </a:solidFill>
                  <a:latin typeface="Lato Bold"/>
                  <a:ea typeface="Lato Bold"/>
                  <a:cs typeface="Lato Bold"/>
                  <a:sym typeface="Lato Bold"/>
                </a:rPr>
                <a:t>Technical support &amp; onboarding 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799840" y="5767105"/>
            <a:ext cx="1124970" cy="1121993"/>
            <a:chOff x="0" y="0"/>
            <a:chExt cx="1499960" cy="1495990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1499960" cy="1495990"/>
              <a:chOff x="0" y="0"/>
              <a:chExt cx="296288" cy="295504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296288" cy="295504"/>
              </a:xfrm>
              <a:custGeom>
                <a:avLst/>
                <a:gdLst/>
                <a:ahLst/>
                <a:cxnLst/>
                <a:rect l="l" t="t" r="r" b="b"/>
                <a:pathLst>
                  <a:path w="296288" h="295504">
                    <a:moveTo>
                      <a:pt x="137638" y="0"/>
                    </a:moveTo>
                    <a:lnTo>
                      <a:pt x="158651" y="0"/>
                    </a:lnTo>
                    <a:cubicBezTo>
                      <a:pt x="195154" y="0"/>
                      <a:pt x="230163" y="14501"/>
                      <a:pt x="255975" y="40313"/>
                    </a:cubicBezTo>
                    <a:cubicBezTo>
                      <a:pt x="281787" y="66125"/>
                      <a:pt x="296288" y="101134"/>
                      <a:pt x="296288" y="137638"/>
                    </a:cubicBezTo>
                    <a:lnTo>
                      <a:pt x="296288" y="157866"/>
                    </a:lnTo>
                    <a:cubicBezTo>
                      <a:pt x="296288" y="233882"/>
                      <a:pt x="234666" y="295504"/>
                      <a:pt x="158651" y="295504"/>
                    </a:cubicBezTo>
                    <a:lnTo>
                      <a:pt x="137638" y="295504"/>
                    </a:lnTo>
                    <a:cubicBezTo>
                      <a:pt x="61623" y="295504"/>
                      <a:pt x="0" y="233882"/>
                      <a:pt x="0" y="157866"/>
                    </a:cubicBezTo>
                    <a:lnTo>
                      <a:pt x="0" y="137638"/>
                    </a:lnTo>
                    <a:cubicBezTo>
                      <a:pt x="0" y="61623"/>
                      <a:pt x="61623" y="0"/>
                      <a:pt x="137638" y="0"/>
                    </a:cubicBezTo>
                    <a:close/>
                  </a:path>
                </a:pathLst>
              </a:custGeom>
              <a:solidFill>
                <a:srgbClr val="2D353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28575"/>
                <a:ext cx="296288" cy="32407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l">
                  <a:lnSpc>
                    <a:spcPts val="2879"/>
                  </a:lnSpc>
                </a:pPr>
                <a:endParaRPr/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385364" y="466910"/>
              <a:ext cx="729231" cy="562171"/>
            </a:xfrm>
            <a:custGeom>
              <a:avLst/>
              <a:gdLst/>
              <a:ahLst/>
              <a:cxnLst/>
              <a:rect l="l" t="t" r="r" b="b"/>
              <a:pathLst>
                <a:path w="729231" h="562171">
                  <a:moveTo>
                    <a:pt x="0" y="0"/>
                  </a:moveTo>
                  <a:lnTo>
                    <a:pt x="729231" y="0"/>
                  </a:lnTo>
                  <a:lnTo>
                    <a:pt x="729231" y="562171"/>
                  </a:lnTo>
                  <a:lnTo>
                    <a:pt x="0" y="562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6912" y="5589134"/>
            <a:ext cx="7742388" cy="1477935"/>
            <a:chOff x="0" y="0"/>
            <a:chExt cx="10323183" cy="1970580"/>
          </a:xfrm>
        </p:grpSpPr>
        <p:sp>
          <p:nvSpPr>
            <p:cNvPr id="37" name="TextBox 37"/>
            <p:cNvSpPr txBox="1"/>
            <p:nvPr/>
          </p:nvSpPr>
          <p:spPr>
            <a:xfrm>
              <a:off x="0" y="677931"/>
              <a:ext cx="10323183" cy="12926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191919"/>
                  </a:solidFill>
                  <a:latin typeface="Lato"/>
                  <a:ea typeface="Lato"/>
                  <a:cs typeface="Lato"/>
                  <a:sym typeface="Lato"/>
                </a:rPr>
                <a:t>Host networking events and webinars to gather feedback and optimize features.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10323183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191919"/>
                  </a:solidFill>
                  <a:latin typeface="Lato Bold"/>
                  <a:ea typeface="Lato Bold"/>
                  <a:cs typeface="Lato Bold"/>
                  <a:sym typeface="Lato Bold"/>
                </a:rPr>
                <a:t>Networking events &amp; webinars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799840" y="7958336"/>
            <a:ext cx="1124970" cy="1121993"/>
            <a:chOff x="0" y="0"/>
            <a:chExt cx="1499960" cy="1495990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1499960" cy="1495990"/>
              <a:chOff x="0" y="0"/>
              <a:chExt cx="296288" cy="295504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296288" cy="295504"/>
              </a:xfrm>
              <a:custGeom>
                <a:avLst/>
                <a:gdLst/>
                <a:ahLst/>
                <a:cxnLst/>
                <a:rect l="l" t="t" r="r" b="b"/>
                <a:pathLst>
                  <a:path w="296288" h="295504">
                    <a:moveTo>
                      <a:pt x="137638" y="0"/>
                    </a:moveTo>
                    <a:lnTo>
                      <a:pt x="158651" y="0"/>
                    </a:lnTo>
                    <a:cubicBezTo>
                      <a:pt x="195154" y="0"/>
                      <a:pt x="230163" y="14501"/>
                      <a:pt x="255975" y="40313"/>
                    </a:cubicBezTo>
                    <a:cubicBezTo>
                      <a:pt x="281787" y="66125"/>
                      <a:pt x="296288" y="101134"/>
                      <a:pt x="296288" y="137638"/>
                    </a:cubicBezTo>
                    <a:lnTo>
                      <a:pt x="296288" y="157866"/>
                    </a:lnTo>
                    <a:cubicBezTo>
                      <a:pt x="296288" y="233882"/>
                      <a:pt x="234666" y="295504"/>
                      <a:pt x="158651" y="295504"/>
                    </a:cubicBezTo>
                    <a:lnTo>
                      <a:pt x="137638" y="295504"/>
                    </a:lnTo>
                    <a:cubicBezTo>
                      <a:pt x="61623" y="295504"/>
                      <a:pt x="0" y="233882"/>
                      <a:pt x="0" y="157866"/>
                    </a:cubicBezTo>
                    <a:lnTo>
                      <a:pt x="0" y="137638"/>
                    </a:lnTo>
                    <a:cubicBezTo>
                      <a:pt x="0" y="61623"/>
                      <a:pt x="61623" y="0"/>
                      <a:pt x="137638" y="0"/>
                    </a:cubicBezTo>
                    <a:close/>
                  </a:path>
                </a:pathLst>
              </a:custGeom>
              <a:solidFill>
                <a:srgbClr val="338A31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28575"/>
                <a:ext cx="296288" cy="32407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l">
                  <a:lnSpc>
                    <a:spcPts val="2879"/>
                  </a:lnSpc>
                </a:pPr>
                <a:endParaRPr/>
              </a:p>
            </p:txBody>
          </p:sp>
        </p:grpSp>
        <p:sp>
          <p:nvSpPr>
            <p:cNvPr id="43" name="Freeform 43"/>
            <p:cNvSpPr/>
            <p:nvPr/>
          </p:nvSpPr>
          <p:spPr>
            <a:xfrm>
              <a:off x="385364" y="466910"/>
              <a:ext cx="729231" cy="562171"/>
            </a:xfrm>
            <a:custGeom>
              <a:avLst/>
              <a:gdLst/>
              <a:ahLst/>
              <a:cxnLst/>
              <a:rect l="l" t="t" r="r" b="b"/>
              <a:pathLst>
                <a:path w="729231" h="562171">
                  <a:moveTo>
                    <a:pt x="0" y="0"/>
                  </a:moveTo>
                  <a:lnTo>
                    <a:pt x="729231" y="0"/>
                  </a:lnTo>
                  <a:lnTo>
                    <a:pt x="729231" y="562171"/>
                  </a:lnTo>
                  <a:lnTo>
                    <a:pt x="0" y="562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6912" y="7780365"/>
            <a:ext cx="7742388" cy="1477935"/>
            <a:chOff x="0" y="0"/>
            <a:chExt cx="10323183" cy="1970580"/>
          </a:xfrm>
        </p:grpSpPr>
        <p:sp>
          <p:nvSpPr>
            <p:cNvPr id="45" name="TextBox 45"/>
            <p:cNvSpPr txBox="1"/>
            <p:nvPr/>
          </p:nvSpPr>
          <p:spPr>
            <a:xfrm>
              <a:off x="0" y="677931"/>
              <a:ext cx="10323183" cy="12926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191919"/>
                  </a:solidFill>
                  <a:latin typeface="Lato"/>
                  <a:ea typeface="Lato"/>
                  <a:cs typeface="Lato"/>
                  <a:sym typeface="Lato"/>
                </a:rPr>
                <a:t>Implement merchant verification and review systems to maintain marketplace credibility.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10323183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191919"/>
                  </a:solidFill>
                  <a:latin typeface="Lato Bold"/>
                  <a:ea typeface="Lato Bold"/>
                  <a:cs typeface="Lato Bold"/>
                  <a:sym typeface="Lato Bold"/>
                </a:rPr>
                <a:t>Verification &amp; review system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7686817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770594" cy="10287000"/>
            <a:chOff x="0" y="0"/>
            <a:chExt cx="178320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3202" cy="2709333"/>
            </a:xfrm>
            <a:custGeom>
              <a:avLst/>
              <a:gdLst/>
              <a:ahLst/>
              <a:cxnLst/>
              <a:rect l="l" t="t" r="r" b="b"/>
              <a:pathLst>
                <a:path w="1783202" h="2709333">
                  <a:moveTo>
                    <a:pt x="0" y="0"/>
                  </a:moveTo>
                  <a:lnTo>
                    <a:pt x="1783202" y="0"/>
                  </a:lnTo>
                  <a:lnTo>
                    <a:pt x="178320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8320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5324660" y="9048119"/>
            <a:ext cx="596043" cy="59604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27860" y="4564773"/>
            <a:ext cx="1310100" cy="0"/>
          </a:xfrm>
          <a:prstGeom prst="line">
            <a:avLst/>
          </a:prstGeom>
          <a:ln w="952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28700" y="2978543"/>
            <a:ext cx="4714875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FFFFFF"/>
                </a:solidFill>
                <a:latin typeface="Lato Heavy"/>
                <a:ea typeface="Lato Heavy"/>
                <a:cs typeface="Lato Heavy"/>
                <a:sym typeface="Lato Heavy"/>
              </a:rPr>
              <a:t>News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089184" y="9601200"/>
            <a:ext cx="2890452" cy="382985"/>
          </a:xfrm>
          <a:custGeom>
            <a:avLst/>
            <a:gdLst/>
            <a:ahLst/>
            <a:cxnLst/>
            <a:rect l="l" t="t" r="r" b="b"/>
            <a:pathLst>
              <a:path w="2890452" h="382985">
                <a:moveTo>
                  <a:pt x="0" y="0"/>
                </a:moveTo>
                <a:lnTo>
                  <a:pt x="2890452" y="0"/>
                </a:lnTo>
                <a:lnTo>
                  <a:pt x="2890452" y="382985"/>
                </a:lnTo>
                <a:lnTo>
                  <a:pt x="0" y="382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6415693" y="-1872307"/>
            <a:ext cx="3744615" cy="374461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338A31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7860" y="5105007"/>
            <a:ext cx="4714875" cy="208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99"/>
              </a:lnSpc>
            </a:pPr>
            <a:r>
              <a:rPr lang="en-US" sz="3999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Strategic growth amid global market shifts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799840" y="1028700"/>
            <a:ext cx="9459460" cy="1973235"/>
            <a:chOff x="0" y="0"/>
            <a:chExt cx="12612614" cy="263098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60111"/>
              <a:ext cx="1499960" cy="1495990"/>
              <a:chOff x="0" y="0"/>
              <a:chExt cx="296288" cy="295504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96288" cy="295504"/>
              </a:xfrm>
              <a:custGeom>
                <a:avLst/>
                <a:gdLst/>
                <a:ahLst/>
                <a:cxnLst/>
                <a:rect l="l" t="t" r="r" b="b"/>
                <a:pathLst>
                  <a:path w="296288" h="295504">
                    <a:moveTo>
                      <a:pt x="137638" y="0"/>
                    </a:moveTo>
                    <a:lnTo>
                      <a:pt x="158651" y="0"/>
                    </a:lnTo>
                    <a:cubicBezTo>
                      <a:pt x="195154" y="0"/>
                      <a:pt x="230163" y="14501"/>
                      <a:pt x="255975" y="40313"/>
                    </a:cubicBezTo>
                    <a:cubicBezTo>
                      <a:pt x="281787" y="66125"/>
                      <a:pt x="296288" y="101134"/>
                      <a:pt x="296288" y="137638"/>
                    </a:cubicBezTo>
                    <a:lnTo>
                      <a:pt x="296288" y="157866"/>
                    </a:lnTo>
                    <a:cubicBezTo>
                      <a:pt x="296288" y="233882"/>
                      <a:pt x="234666" y="295504"/>
                      <a:pt x="158651" y="295504"/>
                    </a:cubicBezTo>
                    <a:lnTo>
                      <a:pt x="137638" y="295504"/>
                    </a:lnTo>
                    <a:cubicBezTo>
                      <a:pt x="61623" y="295504"/>
                      <a:pt x="0" y="233882"/>
                      <a:pt x="0" y="157866"/>
                    </a:cubicBezTo>
                    <a:lnTo>
                      <a:pt x="0" y="137638"/>
                    </a:lnTo>
                    <a:cubicBezTo>
                      <a:pt x="0" y="61623"/>
                      <a:pt x="61623" y="0"/>
                      <a:pt x="137638" y="0"/>
                    </a:cubicBezTo>
                    <a:close/>
                  </a:path>
                </a:pathLst>
              </a:custGeom>
              <a:solidFill>
                <a:srgbClr val="338A31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28575"/>
                <a:ext cx="296288" cy="32407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l">
                  <a:lnSpc>
                    <a:spcPts val="2879"/>
                  </a:lnSpc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385364" y="527021"/>
              <a:ext cx="729231" cy="562171"/>
            </a:xfrm>
            <a:custGeom>
              <a:avLst/>
              <a:gdLst/>
              <a:ahLst/>
              <a:cxnLst/>
              <a:rect l="l" t="t" r="r" b="b"/>
              <a:pathLst>
                <a:path w="729231" h="562171">
                  <a:moveTo>
                    <a:pt x="0" y="0"/>
                  </a:moveTo>
                  <a:lnTo>
                    <a:pt x="729231" y="0"/>
                  </a:lnTo>
                  <a:lnTo>
                    <a:pt x="729231" y="562171"/>
                  </a:lnTo>
                  <a:lnTo>
                    <a:pt x="0" y="562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289430" y="677931"/>
              <a:ext cx="10323183" cy="19530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191919"/>
                  </a:solidFill>
                  <a:latin typeface="Lato"/>
                  <a:ea typeface="Lato"/>
                  <a:cs typeface="Lato"/>
                  <a:sym typeface="Lato"/>
                </a:rPr>
                <a:t>Drive regional growth by promoting local integrations to meet shifting consumer preferences in Europe and Canada.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89430" y="-9525"/>
              <a:ext cx="10323183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191919"/>
                  </a:solidFill>
                  <a:latin typeface="Lato Bold"/>
                  <a:ea typeface="Lato Bold"/>
                  <a:cs typeface="Lato Bold"/>
                  <a:sym typeface="Lato Bold"/>
                </a:rPr>
                <a:t>Global boycotts of U.S. goods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799840" y="3910475"/>
            <a:ext cx="9459460" cy="1976755"/>
            <a:chOff x="0" y="0"/>
            <a:chExt cx="12612614" cy="2635673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60111"/>
              <a:ext cx="1499960" cy="1495990"/>
              <a:chOff x="0" y="0"/>
              <a:chExt cx="296288" cy="29550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96288" cy="295504"/>
              </a:xfrm>
              <a:custGeom>
                <a:avLst/>
                <a:gdLst/>
                <a:ahLst/>
                <a:cxnLst/>
                <a:rect l="l" t="t" r="r" b="b"/>
                <a:pathLst>
                  <a:path w="296288" h="295504">
                    <a:moveTo>
                      <a:pt x="137638" y="0"/>
                    </a:moveTo>
                    <a:lnTo>
                      <a:pt x="158651" y="0"/>
                    </a:lnTo>
                    <a:cubicBezTo>
                      <a:pt x="195154" y="0"/>
                      <a:pt x="230163" y="14501"/>
                      <a:pt x="255975" y="40313"/>
                    </a:cubicBezTo>
                    <a:cubicBezTo>
                      <a:pt x="281787" y="66125"/>
                      <a:pt x="296288" y="101134"/>
                      <a:pt x="296288" y="137638"/>
                    </a:cubicBezTo>
                    <a:lnTo>
                      <a:pt x="296288" y="157866"/>
                    </a:lnTo>
                    <a:cubicBezTo>
                      <a:pt x="296288" y="233882"/>
                      <a:pt x="234666" y="295504"/>
                      <a:pt x="158651" y="295504"/>
                    </a:cubicBezTo>
                    <a:lnTo>
                      <a:pt x="137638" y="295504"/>
                    </a:lnTo>
                    <a:cubicBezTo>
                      <a:pt x="61623" y="295504"/>
                      <a:pt x="0" y="233882"/>
                      <a:pt x="0" y="157866"/>
                    </a:cubicBezTo>
                    <a:lnTo>
                      <a:pt x="0" y="137638"/>
                    </a:lnTo>
                    <a:cubicBezTo>
                      <a:pt x="0" y="61623"/>
                      <a:pt x="61623" y="0"/>
                      <a:pt x="137638" y="0"/>
                    </a:cubicBezTo>
                    <a:close/>
                  </a:path>
                </a:pathLst>
              </a:custGeom>
              <a:solidFill>
                <a:srgbClr val="338A31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28575"/>
                <a:ext cx="296288" cy="32407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l">
                  <a:lnSpc>
                    <a:spcPts val="2879"/>
                  </a:lnSpc>
                </a:pPr>
                <a:endParaRPr/>
              </a:p>
            </p:txBody>
          </p:sp>
        </p:grpSp>
        <p:sp>
          <p:nvSpPr>
            <p:cNvPr id="26" name="Freeform 26"/>
            <p:cNvSpPr/>
            <p:nvPr/>
          </p:nvSpPr>
          <p:spPr>
            <a:xfrm>
              <a:off x="385364" y="527021"/>
              <a:ext cx="729231" cy="562171"/>
            </a:xfrm>
            <a:custGeom>
              <a:avLst/>
              <a:gdLst/>
              <a:ahLst/>
              <a:cxnLst/>
              <a:rect l="l" t="t" r="r" b="b"/>
              <a:pathLst>
                <a:path w="729231" h="562171">
                  <a:moveTo>
                    <a:pt x="0" y="0"/>
                  </a:moveTo>
                  <a:lnTo>
                    <a:pt x="729231" y="0"/>
                  </a:lnTo>
                  <a:lnTo>
                    <a:pt x="729231" y="562171"/>
                  </a:lnTo>
                  <a:lnTo>
                    <a:pt x="0" y="562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89430" y="682625"/>
              <a:ext cx="10323183" cy="19530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191919"/>
                  </a:solidFill>
                  <a:latin typeface="Lato"/>
                  <a:ea typeface="Lato"/>
                  <a:cs typeface="Lato"/>
                  <a:sym typeface="Lato"/>
                </a:rPr>
                <a:t>Support merchants facing tariffs with cost-saving tools and boost marketplace adoption through online sales solutions.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89430" y="-9525"/>
              <a:ext cx="10323183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191919"/>
                  </a:solidFill>
                  <a:latin typeface="Lato Bold"/>
                  <a:ea typeface="Lato Bold"/>
                  <a:cs typeface="Lato Bold"/>
                  <a:sym typeface="Lato Bold"/>
                </a:rPr>
                <a:t>Implementation of targeted tariffs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799840" y="6795770"/>
            <a:ext cx="9459460" cy="2462530"/>
            <a:chOff x="0" y="0"/>
            <a:chExt cx="12612614" cy="3283373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60111"/>
              <a:ext cx="1499960" cy="1495990"/>
              <a:chOff x="0" y="0"/>
              <a:chExt cx="296288" cy="295504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296288" cy="295504"/>
              </a:xfrm>
              <a:custGeom>
                <a:avLst/>
                <a:gdLst/>
                <a:ahLst/>
                <a:cxnLst/>
                <a:rect l="l" t="t" r="r" b="b"/>
                <a:pathLst>
                  <a:path w="296288" h="295504">
                    <a:moveTo>
                      <a:pt x="137638" y="0"/>
                    </a:moveTo>
                    <a:lnTo>
                      <a:pt x="158651" y="0"/>
                    </a:lnTo>
                    <a:cubicBezTo>
                      <a:pt x="195154" y="0"/>
                      <a:pt x="230163" y="14501"/>
                      <a:pt x="255975" y="40313"/>
                    </a:cubicBezTo>
                    <a:cubicBezTo>
                      <a:pt x="281787" y="66125"/>
                      <a:pt x="296288" y="101134"/>
                      <a:pt x="296288" y="137638"/>
                    </a:cubicBezTo>
                    <a:lnTo>
                      <a:pt x="296288" y="157866"/>
                    </a:lnTo>
                    <a:cubicBezTo>
                      <a:pt x="296288" y="233882"/>
                      <a:pt x="234666" y="295504"/>
                      <a:pt x="158651" y="295504"/>
                    </a:cubicBezTo>
                    <a:lnTo>
                      <a:pt x="137638" y="295504"/>
                    </a:lnTo>
                    <a:cubicBezTo>
                      <a:pt x="61623" y="295504"/>
                      <a:pt x="0" y="233882"/>
                      <a:pt x="0" y="157866"/>
                    </a:cubicBezTo>
                    <a:lnTo>
                      <a:pt x="0" y="137638"/>
                    </a:lnTo>
                    <a:cubicBezTo>
                      <a:pt x="0" y="61623"/>
                      <a:pt x="61623" y="0"/>
                      <a:pt x="137638" y="0"/>
                    </a:cubicBezTo>
                    <a:close/>
                  </a:path>
                </a:pathLst>
              </a:custGeom>
              <a:solidFill>
                <a:srgbClr val="338A31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28575"/>
                <a:ext cx="296288" cy="324079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algn="l">
                  <a:lnSpc>
                    <a:spcPts val="2879"/>
                  </a:lnSpc>
                </a:pPr>
                <a:endParaRPr/>
              </a:p>
            </p:txBody>
          </p:sp>
        </p:grpSp>
        <p:sp>
          <p:nvSpPr>
            <p:cNvPr id="33" name="Freeform 33"/>
            <p:cNvSpPr/>
            <p:nvPr/>
          </p:nvSpPr>
          <p:spPr>
            <a:xfrm>
              <a:off x="385364" y="527021"/>
              <a:ext cx="729231" cy="562171"/>
            </a:xfrm>
            <a:custGeom>
              <a:avLst/>
              <a:gdLst/>
              <a:ahLst/>
              <a:cxnLst/>
              <a:rect l="l" t="t" r="r" b="b"/>
              <a:pathLst>
                <a:path w="729231" h="562171">
                  <a:moveTo>
                    <a:pt x="0" y="0"/>
                  </a:moveTo>
                  <a:lnTo>
                    <a:pt x="729231" y="0"/>
                  </a:lnTo>
                  <a:lnTo>
                    <a:pt x="729231" y="562171"/>
                  </a:lnTo>
                  <a:lnTo>
                    <a:pt x="0" y="5621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289430" y="1330325"/>
              <a:ext cx="10323183" cy="19530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191919"/>
                  </a:solidFill>
                  <a:latin typeface="Lato"/>
                  <a:ea typeface="Lato"/>
                  <a:cs typeface="Lato"/>
                  <a:sym typeface="Lato"/>
                </a:rPr>
                <a:t>Leverage Shopify’s 21% stock surge and rising demand by driving partner innovation to meet growing merchant needs.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289430" y="-9525"/>
              <a:ext cx="10323183" cy="1304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191919"/>
                  </a:solidFill>
                  <a:latin typeface="Lato Bold"/>
                  <a:ea typeface="Lato Bold"/>
                  <a:cs typeface="Lato Bold"/>
                  <a:sym typeface="Lato Bold"/>
                </a:rPr>
                <a:t>Shopify stock surge boosts partner opportunities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7692845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028700" y="2929163"/>
          <a:ext cx="16230600" cy="6005954"/>
        </p:xfrm>
        <a:graphic>
          <a:graphicData uri="http://schemas.openxmlformats.org/drawingml/2006/table">
            <a:tbl>
              <a:tblPr/>
              <a:tblGrid>
                <a:gridCol w="1623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9336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44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Closes a critical gap in Shopify’s merchant ecosystem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6406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44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Boosts trust and efficiency through automation and secure transactions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6406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44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Drives smarter partnerships with AI-powered matchmaking and real-time insights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6406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44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Fully scalable, aligned with Shopify’s long-term strategy and global vision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93368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ts val="44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320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Accelerates growth by unlocking new revenue streams and improving retention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-843607" y="7385993"/>
            <a:ext cx="3744615" cy="3744615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338A31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089184" y="9601200"/>
            <a:ext cx="2890452" cy="382985"/>
          </a:xfrm>
          <a:custGeom>
            <a:avLst/>
            <a:gdLst/>
            <a:ahLst/>
            <a:cxnLst/>
            <a:rect l="l" t="t" r="r" b="b"/>
            <a:pathLst>
              <a:path w="2890452" h="382985">
                <a:moveTo>
                  <a:pt x="0" y="0"/>
                </a:moveTo>
                <a:lnTo>
                  <a:pt x="2890452" y="0"/>
                </a:lnTo>
                <a:lnTo>
                  <a:pt x="2890452" y="382985"/>
                </a:lnTo>
                <a:lnTo>
                  <a:pt x="0" y="382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 rot="5400000">
            <a:off x="15472638" y="340111"/>
            <a:ext cx="1479329" cy="1479329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66903" y="0"/>
                  </a:moveTo>
                  <a:lnTo>
                    <a:pt x="545897" y="0"/>
                  </a:lnTo>
                  <a:cubicBezTo>
                    <a:pt x="693303" y="0"/>
                    <a:pt x="812800" y="119497"/>
                    <a:pt x="812800" y="266903"/>
                  </a:cubicBezTo>
                  <a:lnTo>
                    <a:pt x="812800" y="545897"/>
                  </a:lnTo>
                  <a:cubicBezTo>
                    <a:pt x="812800" y="693303"/>
                    <a:pt x="693303" y="812800"/>
                    <a:pt x="545897" y="812800"/>
                  </a:cubicBezTo>
                  <a:lnTo>
                    <a:pt x="266903" y="812800"/>
                  </a:lnTo>
                  <a:cubicBezTo>
                    <a:pt x="119497" y="812800"/>
                    <a:pt x="0" y="693303"/>
                    <a:pt x="0" y="545897"/>
                  </a:cubicBezTo>
                  <a:lnTo>
                    <a:pt x="0" y="266903"/>
                  </a:lnTo>
                  <a:cubicBezTo>
                    <a:pt x="0" y="119497"/>
                    <a:pt x="119497" y="0"/>
                    <a:pt x="266903" y="0"/>
                  </a:cubicBezTo>
                  <a:close/>
                </a:path>
              </a:pathLst>
            </a:custGeom>
            <a:solidFill>
              <a:srgbClr val="338A31">
                <a:alpha val="2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5400000">
            <a:off x="16487576" y="1219358"/>
            <a:ext cx="771724" cy="7717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5BA62C">
                  <a:alpha val="4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914400"/>
            <a:ext cx="16230600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D3538"/>
                </a:solidFill>
                <a:latin typeface="Lato Heavy"/>
                <a:ea typeface="Lato Heavy"/>
                <a:cs typeface="Lato Heavy"/>
                <a:sym typeface="Lato Heavy"/>
              </a:rPr>
              <a:t>Conclusion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684957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D3538"/>
                </a:solidFill>
                <a:latin typeface="Canva Sans"/>
                <a:ea typeface="Canva Sans"/>
                <a:cs typeface="Canva Sans"/>
                <a:sym typeface="Canva Sans"/>
              </a:rPr>
              <a:t>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770594" cy="10287000"/>
            <a:chOff x="0" y="0"/>
            <a:chExt cx="178320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3202" cy="2709333"/>
            </a:xfrm>
            <a:custGeom>
              <a:avLst/>
              <a:gdLst/>
              <a:ahLst/>
              <a:cxnLst/>
              <a:rect l="l" t="t" r="r" b="b"/>
              <a:pathLst>
                <a:path w="1783202" h="2709333">
                  <a:moveTo>
                    <a:pt x="0" y="0"/>
                  </a:moveTo>
                  <a:lnTo>
                    <a:pt x="1783202" y="0"/>
                  </a:lnTo>
                  <a:lnTo>
                    <a:pt x="178320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8320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5324660" y="9048119"/>
            <a:ext cx="596043" cy="59604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27860" y="6185971"/>
            <a:ext cx="1310100" cy="0"/>
          </a:xfrm>
          <a:prstGeom prst="line">
            <a:avLst/>
          </a:prstGeom>
          <a:ln w="952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28700" y="4605020"/>
            <a:ext cx="4714875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FFFFFF"/>
                </a:solidFill>
                <a:latin typeface="Lato Heavy"/>
                <a:ea typeface="Lato Heavy"/>
                <a:cs typeface="Lato Heavy"/>
                <a:sym typeface="Lato Heavy"/>
              </a:rPr>
              <a:t>Call of Actions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089184" y="9601200"/>
            <a:ext cx="2890452" cy="382985"/>
          </a:xfrm>
          <a:custGeom>
            <a:avLst/>
            <a:gdLst/>
            <a:ahLst/>
            <a:cxnLst/>
            <a:rect l="l" t="t" r="r" b="b"/>
            <a:pathLst>
              <a:path w="2890452" h="382985">
                <a:moveTo>
                  <a:pt x="0" y="0"/>
                </a:moveTo>
                <a:lnTo>
                  <a:pt x="2890452" y="0"/>
                </a:lnTo>
                <a:lnTo>
                  <a:pt x="2890452" y="382985"/>
                </a:lnTo>
                <a:lnTo>
                  <a:pt x="0" y="382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6415693" y="-1872307"/>
            <a:ext cx="3744615" cy="374461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338A31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4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279708"/>
              </p:ext>
            </p:extLst>
          </p:nvPr>
        </p:nvGraphicFramePr>
        <p:xfrm>
          <a:off x="7789677" y="1461783"/>
          <a:ext cx="9469623" cy="7363435"/>
        </p:xfrm>
        <a:graphic>
          <a:graphicData uri="http://schemas.openxmlformats.org/drawingml/2006/table">
            <a:tbl>
              <a:tblPr/>
              <a:tblGrid>
                <a:gridCol w="94696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6685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391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799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✅ 12 months implementation plan fully designed, realistic, and scalable.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63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391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799" dirty="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✅ 193% ROI projected over 20 years through retention and monetization. 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637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391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799" dirty="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✅ $633B+ revenue potential unlocked via co-selling and smart partnerships. 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6375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799" dirty="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✅ AI-powered matching reduces data loss by 40% and improves partner discovery. 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7460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799" dirty="0">
                          <a:solidFill>
                            <a:srgbClr val="2D353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✅ Choose The Value Markers to deliver this transformation with precision and speed. 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8A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Box 15"/>
          <p:cNvSpPr txBox="1"/>
          <p:nvPr/>
        </p:nvSpPr>
        <p:spPr>
          <a:xfrm>
            <a:off x="17678632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770594" cy="10287000"/>
            <a:chOff x="0" y="0"/>
            <a:chExt cx="178320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3202" cy="2709333"/>
            </a:xfrm>
            <a:custGeom>
              <a:avLst/>
              <a:gdLst/>
              <a:ahLst/>
              <a:cxnLst/>
              <a:rect l="l" t="t" r="r" b="b"/>
              <a:pathLst>
                <a:path w="1783202" h="2709333">
                  <a:moveTo>
                    <a:pt x="0" y="0"/>
                  </a:moveTo>
                  <a:lnTo>
                    <a:pt x="1783202" y="0"/>
                  </a:lnTo>
                  <a:lnTo>
                    <a:pt x="178320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8320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15472638" y="340111"/>
            <a:ext cx="1479329" cy="147932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66903" y="0"/>
                  </a:moveTo>
                  <a:lnTo>
                    <a:pt x="545897" y="0"/>
                  </a:lnTo>
                  <a:cubicBezTo>
                    <a:pt x="693303" y="0"/>
                    <a:pt x="812800" y="119497"/>
                    <a:pt x="812800" y="266903"/>
                  </a:cubicBezTo>
                  <a:lnTo>
                    <a:pt x="812800" y="545897"/>
                  </a:lnTo>
                  <a:cubicBezTo>
                    <a:pt x="812800" y="693303"/>
                    <a:pt x="693303" y="812800"/>
                    <a:pt x="545897" y="812800"/>
                  </a:cubicBezTo>
                  <a:lnTo>
                    <a:pt x="266903" y="812800"/>
                  </a:lnTo>
                  <a:cubicBezTo>
                    <a:pt x="119497" y="812800"/>
                    <a:pt x="0" y="693303"/>
                    <a:pt x="0" y="545897"/>
                  </a:cubicBezTo>
                  <a:lnTo>
                    <a:pt x="0" y="266903"/>
                  </a:lnTo>
                  <a:cubicBezTo>
                    <a:pt x="0" y="119497"/>
                    <a:pt x="119497" y="0"/>
                    <a:pt x="266903" y="0"/>
                  </a:cubicBezTo>
                  <a:close/>
                </a:path>
              </a:pathLst>
            </a:custGeom>
            <a:solidFill>
              <a:srgbClr val="338A31">
                <a:alpha val="2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16487576" y="1219358"/>
            <a:ext cx="771724" cy="77172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5BA62C">
                  <a:alpha val="4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5400000">
            <a:off x="5324660" y="9048119"/>
            <a:ext cx="596043" cy="59604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7860" y="3890645"/>
            <a:ext cx="4715715" cy="2505710"/>
            <a:chOff x="0" y="0"/>
            <a:chExt cx="6287621" cy="3340947"/>
          </a:xfrm>
        </p:grpSpPr>
        <p:sp>
          <p:nvSpPr>
            <p:cNvPr id="15" name="AutoShape 15"/>
            <p:cNvSpPr/>
            <p:nvPr/>
          </p:nvSpPr>
          <p:spPr>
            <a:xfrm>
              <a:off x="0" y="3277447"/>
              <a:ext cx="1746800" cy="0"/>
            </a:xfrm>
            <a:prstGeom prst="line">
              <a:avLst/>
            </a:prstGeom>
            <a:ln w="1270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21" y="-114300"/>
              <a:ext cx="6286500" cy="25662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40"/>
                </a:lnSpc>
              </a:pPr>
              <a:r>
                <a:rPr lang="en-US" sz="5600" b="1">
                  <a:solidFill>
                    <a:srgbClr val="FFFFFF"/>
                  </a:solidFill>
                  <a:latin typeface="Lato Heavy"/>
                  <a:ea typeface="Lato Heavy"/>
                  <a:cs typeface="Lato Heavy"/>
                  <a:sym typeface="Lato Heavy"/>
                </a:rPr>
                <a:t>What We Deliver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357338" y="5439410"/>
            <a:ext cx="9901962" cy="3818890"/>
            <a:chOff x="0" y="0"/>
            <a:chExt cx="13202615" cy="5091854"/>
          </a:xfrm>
        </p:grpSpPr>
        <p:sp>
          <p:nvSpPr>
            <p:cNvPr id="18" name="TextBox 18"/>
            <p:cNvSpPr txBox="1"/>
            <p:nvPr/>
          </p:nvSpPr>
          <p:spPr>
            <a:xfrm>
              <a:off x="0" y="1194858"/>
              <a:ext cx="13202615" cy="12926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>
                  <a:solidFill>
                    <a:srgbClr val="2D3538"/>
                  </a:solidFill>
                  <a:latin typeface="Lato"/>
                  <a:ea typeface="Lato"/>
                  <a:cs typeface="Lato"/>
                  <a:sym typeface="Lato"/>
                </a:rPr>
                <a:t>✅ We bring a clear, strategic vision for the Shopify Partner Marketplace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2827232"/>
              <a:ext cx="13202615" cy="6322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>
                  <a:solidFill>
                    <a:srgbClr val="2D3538"/>
                  </a:solidFill>
                  <a:latin typeface="Lato"/>
                  <a:ea typeface="Lato"/>
                  <a:cs typeface="Lato"/>
                  <a:sym typeface="Lato"/>
                </a:rPr>
                <a:t>✅ Our framework ensures seamless stakeholder alignment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3799205"/>
              <a:ext cx="13202615" cy="12926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</a:pPr>
              <a:r>
                <a:rPr lang="en-US" sz="2799">
                  <a:solidFill>
                    <a:srgbClr val="2D3538"/>
                  </a:solidFill>
                  <a:latin typeface="Lato"/>
                  <a:ea typeface="Lato"/>
                  <a:cs typeface="Lato"/>
                  <a:sym typeface="Lato"/>
                </a:rPr>
                <a:t>✅ We drive innovation, merchant collaboration, and long-term success 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0" y="5838"/>
              <a:ext cx="804333" cy="804333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38A31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r>
                  <a:rPr lang="en-US" sz="1899" b="1">
                    <a:solidFill>
                      <a:srgbClr val="FFFFFF"/>
                    </a:solidFill>
                    <a:latin typeface="Lato Bold"/>
                    <a:ea typeface="Lato Bold"/>
                    <a:cs typeface="Lato Bold"/>
                    <a:sym typeface="Lato Bold"/>
                  </a:rPr>
                  <a:t>✱</a:t>
                </a:r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103449" y="-76200"/>
              <a:ext cx="11974493" cy="8805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 b="1">
                  <a:solidFill>
                    <a:srgbClr val="2D3538"/>
                  </a:solidFill>
                  <a:latin typeface="Lato Bold"/>
                  <a:ea typeface="Lato Bold"/>
                  <a:cs typeface="Lato Bold"/>
                  <a:sym typeface="Lato Bold"/>
                </a:rPr>
                <a:t>Why us?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15089184" y="9601200"/>
            <a:ext cx="2890452" cy="382985"/>
          </a:xfrm>
          <a:custGeom>
            <a:avLst/>
            <a:gdLst/>
            <a:ahLst/>
            <a:cxnLst/>
            <a:rect l="l" t="t" r="r" b="b"/>
            <a:pathLst>
              <a:path w="2890452" h="382985">
                <a:moveTo>
                  <a:pt x="0" y="0"/>
                </a:moveTo>
                <a:lnTo>
                  <a:pt x="2890452" y="0"/>
                </a:lnTo>
                <a:lnTo>
                  <a:pt x="2890452" y="382985"/>
                </a:lnTo>
                <a:lnTo>
                  <a:pt x="0" y="382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6" name="Group 26"/>
          <p:cNvGrpSpPr/>
          <p:nvPr/>
        </p:nvGrpSpPr>
        <p:grpSpPr>
          <a:xfrm>
            <a:off x="7357338" y="1028700"/>
            <a:ext cx="4791075" cy="1762125"/>
            <a:chOff x="0" y="0"/>
            <a:chExt cx="662103" cy="24351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62103" cy="243517"/>
            </a:xfrm>
            <a:custGeom>
              <a:avLst/>
              <a:gdLst/>
              <a:ahLst/>
              <a:cxnLst/>
              <a:rect l="l" t="t" r="r" b="b"/>
              <a:pathLst>
                <a:path w="662103" h="243517">
                  <a:moveTo>
                    <a:pt x="32318" y="0"/>
                  </a:moveTo>
                  <a:lnTo>
                    <a:pt x="629785" y="0"/>
                  </a:lnTo>
                  <a:cubicBezTo>
                    <a:pt x="638356" y="0"/>
                    <a:pt x="646576" y="3405"/>
                    <a:pt x="652637" y="9466"/>
                  </a:cubicBezTo>
                  <a:cubicBezTo>
                    <a:pt x="658698" y="15527"/>
                    <a:pt x="662103" y="23747"/>
                    <a:pt x="662103" y="32318"/>
                  </a:cubicBezTo>
                  <a:lnTo>
                    <a:pt x="662103" y="211199"/>
                  </a:lnTo>
                  <a:cubicBezTo>
                    <a:pt x="662103" y="229048"/>
                    <a:pt x="647634" y="243517"/>
                    <a:pt x="629785" y="243517"/>
                  </a:cubicBezTo>
                  <a:lnTo>
                    <a:pt x="32318" y="243517"/>
                  </a:lnTo>
                  <a:cubicBezTo>
                    <a:pt x="23747" y="243517"/>
                    <a:pt x="15527" y="240112"/>
                    <a:pt x="9466" y="234051"/>
                  </a:cubicBezTo>
                  <a:cubicBezTo>
                    <a:pt x="3405" y="227990"/>
                    <a:pt x="0" y="219770"/>
                    <a:pt x="0" y="211199"/>
                  </a:cubicBezTo>
                  <a:lnTo>
                    <a:pt x="0" y="32318"/>
                  </a:lnTo>
                  <a:cubicBezTo>
                    <a:pt x="0" y="23747"/>
                    <a:pt x="3405" y="15527"/>
                    <a:pt x="9466" y="9466"/>
                  </a:cubicBezTo>
                  <a:cubicBezTo>
                    <a:pt x="15527" y="3405"/>
                    <a:pt x="23747" y="0"/>
                    <a:pt x="32318" y="0"/>
                  </a:cubicBezTo>
                  <a:close/>
                </a:path>
              </a:pathLst>
            </a:custGeom>
            <a:solidFill>
              <a:srgbClr val="F0FD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662103" cy="281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1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357338" y="3105150"/>
            <a:ext cx="4791075" cy="1762125"/>
            <a:chOff x="0" y="0"/>
            <a:chExt cx="662103" cy="24351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62103" cy="243517"/>
            </a:xfrm>
            <a:custGeom>
              <a:avLst/>
              <a:gdLst/>
              <a:ahLst/>
              <a:cxnLst/>
              <a:rect l="l" t="t" r="r" b="b"/>
              <a:pathLst>
                <a:path w="662103" h="243517">
                  <a:moveTo>
                    <a:pt x="32318" y="0"/>
                  </a:moveTo>
                  <a:lnTo>
                    <a:pt x="629785" y="0"/>
                  </a:lnTo>
                  <a:cubicBezTo>
                    <a:pt x="638356" y="0"/>
                    <a:pt x="646576" y="3405"/>
                    <a:pt x="652637" y="9466"/>
                  </a:cubicBezTo>
                  <a:cubicBezTo>
                    <a:pt x="658698" y="15527"/>
                    <a:pt x="662103" y="23747"/>
                    <a:pt x="662103" y="32318"/>
                  </a:cubicBezTo>
                  <a:lnTo>
                    <a:pt x="662103" y="211199"/>
                  </a:lnTo>
                  <a:cubicBezTo>
                    <a:pt x="662103" y="229048"/>
                    <a:pt x="647634" y="243517"/>
                    <a:pt x="629785" y="243517"/>
                  </a:cubicBezTo>
                  <a:lnTo>
                    <a:pt x="32318" y="243517"/>
                  </a:lnTo>
                  <a:cubicBezTo>
                    <a:pt x="23747" y="243517"/>
                    <a:pt x="15527" y="240112"/>
                    <a:pt x="9466" y="234051"/>
                  </a:cubicBezTo>
                  <a:cubicBezTo>
                    <a:pt x="3405" y="227990"/>
                    <a:pt x="0" y="219770"/>
                    <a:pt x="0" y="211199"/>
                  </a:cubicBezTo>
                  <a:lnTo>
                    <a:pt x="0" y="32318"/>
                  </a:lnTo>
                  <a:cubicBezTo>
                    <a:pt x="0" y="23747"/>
                    <a:pt x="3405" y="15527"/>
                    <a:pt x="9466" y="9466"/>
                  </a:cubicBezTo>
                  <a:cubicBezTo>
                    <a:pt x="15527" y="3405"/>
                    <a:pt x="23747" y="0"/>
                    <a:pt x="32318" y="0"/>
                  </a:cubicBezTo>
                  <a:close/>
                </a:path>
              </a:pathLst>
            </a:custGeom>
            <a:solidFill>
              <a:srgbClr val="2D3538">
                <a:alpha val="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662103" cy="281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1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468225" y="1028700"/>
            <a:ext cx="4791075" cy="1762125"/>
            <a:chOff x="0" y="0"/>
            <a:chExt cx="662103" cy="24351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62103" cy="243517"/>
            </a:xfrm>
            <a:custGeom>
              <a:avLst/>
              <a:gdLst/>
              <a:ahLst/>
              <a:cxnLst/>
              <a:rect l="l" t="t" r="r" b="b"/>
              <a:pathLst>
                <a:path w="662103" h="243517">
                  <a:moveTo>
                    <a:pt x="32318" y="0"/>
                  </a:moveTo>
                  <a:lnTo>
                    <a:pt x="629785" y="0"/>
                  </a:lnTo>
                  <a:cubicBezTo>
                    <a:pt x="638356" y="0"/>
                    <a:pt x="646576" y="3405"/>
                    <a:pt x="652637" y="9466"/>
                  </a:cubicBezTo>
                  <a:cubicBezTo>
                    <a:pt x="658698" y="15527"/>
                    <a:pt x="662103" y="23747"/>
                    <a:pt x="662103" y="32318"/>
                  </a:cubicBezTo>
                  <a:lnTo>
                    <a:pt x="662103" y="211199"/>
                  </a:lnTo>
                  <a:cubicBezTo>
                    <a:pt x="662103" y="229048"/>
                    <a:pt x="647634" y="243517"/>
                    <a:pt x="629785" y="243517"/>
                  </a:cubicBezTo>
                  <a:lnTo>
                    <a:pt x="32318" y="243517"/>
                  </a:lnTo>
                  <a:cubicBezTo>
                    <a:pt x="23747" y="243517"/>
                    <a:pt x="15527" y="240112"/>
                    <a:pt x="9466" y="234051"/>
                  </a:cubicBezTo>
                  <a:cubicBezTo>
                    <a:pt x="3405" y="227990"/>
                    <a:pt x="0" y="219770"/>
                    <a:pt x="0" y="211199"/>
                  </a:cubicBezTo>
                  <a:lnTo>
                    <a:pt x="0" y="32318"/>
                  </a:lnTo>
                  <a:cubicBezTo>
                    <a:pt x="0" y="23747"/>
                    <a:pt x="3405" y="15527"/>
                    <a:pt x="9466" y="9466"/>
                  </a:cubicBezTo>
                  <a:cubicBezTo>
                    <a:pt x="15527" y="3405"/>
                    <a:pt x="23747" y="0"/>
                    <a:pt x="32318" y="0"/>
                  </a:cubicBezTo>
                  <a:close/>
                </a:path>
              </a:pathLst>
            </a:custGeom>
            <a:solidFill>
              <a:srgbClr val="2D3538">
                <a:alpha val="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662103" cy="281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1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468225" y="3105150"/>
            <a:ext cx="4791075" cy="1762125"/>
            <a:chOff x="0" y="0"/>
            <a:chExt cx="662103" cy="24351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62103" cy="243517"/>
            </a:xfrm>
            <a:custGeom>
              <a:avLst/>
              <a:gdLst/>
              <a:ahLst/>
              <a:cxnLst/>
              <a:rect l="l" t="t" r="r" b="b"/>
              <a:pathLst>
                <a:path w="662103" h="243517">
                  <a:moveTo>
                    <a:pt x="32318" y="0"/>
                  </a:moveTo>
                  <a:lnTo>
                    <a:pt x="629785" y="0"/>
                  </a:lnTo>
                  <a:cubicBezTo>
                    <a:pt x="638356" y="0"/>
                    <a:pt x="646576" y="3405"/>
                    <a:pt x="652637" y="9466"/>
                  </a:cubicBezTo>
                  <a:cubicBezTo>
                    <a:pt x="658698" y="15527"/>
                    <a:pt x="662103" y="23747"/>
                    <a:pt x="662103" y="32318"/>
                  </a:cubicBezTo>
                  <a:lnTo>
                    <a:pt x="662103" y="211199"/>
                  </a:lnTo>
                  <a:cubicBezTo>
                    <a:pt x="662103" y="229048"/>
                    <a:pt x="647634" y="243517"/>
                    <a:pt x="629785" y="243517"/>
                  </a:cubicBezTo>
                  <a:lnTo>
                    <a:pt x="32318" y="243517"/>
                  </a:lnTo>
                  <a:cubicBezTo>
                    <a:pt x="23747" y="243517"/>
                    <a:pt x="15527" y="240112"/>
                    <a:pt x="9466" y="234051"/>
                  </a:cubicBezTo>
                  <a:cubicBezTo>
                    <a:pt x="3405" y="227990"/>
                    <a:pt x="0" y="219770"/>
                    <a:pt x="0" y="211199"/>
                  </a:cubicBezTo>
                  <a:lnTo>
                    <a:pt x="0" y="32318"/>
                  </a:lnTo>
                  <a:cubicBezTo>
                    <a:pt x="0" y="23747"/>
                    <a:pt x="3405" y="15527"/>
                    <a:pt x="9466" y="9466"/>
                  </a:cubicBezTo>
                  <a:cubicBezTo>
                    <a:pt x="15527" y="3405"/>
                    <a:pt x="23747" y="0"/>
                    <a:pt x="32318" y="0"/>
                  </a:cubicBezTo>
                  <a:close/>
                </a:path>
              </a:pathLst>
            </a:custGeom>
            <a:solidFill>
              <a:srgbClr val="F0FDF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662103" cy="281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01"/>
                </a:lnSpc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7743103" y="1385887"/>
            <a:ext cx="2408486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2D3538"/>
                </a:solidFill>
                <a:latin typeface="Lato Bold"/>
                <a:ea typeface="Lato Bold"/>
                <a:cs typeface="Lato Bold"/>
                <a:sym typeface="Lato Bold"/>
              </a:rPr>
              <a:t>25-40%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Efficiency gains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743103" y="3462337"/>
            <a:ext cx="3915497" cy="1047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2D3538"/>
                </a:solidFill>
                <a:latin typeface="Lato Bold"/>
                <a:ea typeface="Lato Bold"/>
                <a:cs typeface="Lato Bold"/>
                <a:sym typeface="Lato Bold"/>
              </a:rPr>
              <a:t>$2B+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Revenue Generated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860915" y="1385887"/>
            <a:ext cx="3804493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2D3538"/>
                </a:solidFill>
                <a:latin typeface="Lato Bold"/>
                <a:ea typeface="Lato Bold"/>
                <a:cs typeface="Lato Bold"/>
                <a:sym typeface="Lato Bold"/>
              </a:rPr>
              <a:t>100%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Compliance success rate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860914" y="3462337"/>
            <a:ext cx="3804493" cy="1047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 dirty="0">
                <a:solidFill>
                  <a:srgbClr val="2D3538"/>
                </a:solidFill>
                <a:latin typeface="Lato Bold"/>
                <a:ea typeface="Lato Bold"/>
                <a:cs typeface="Lato Bold"/>
                <a:sym typeface="Lato Bold"/>
              </a:rPr>
              <a:t>250+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Certified Experts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7687925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43607" y="7385993"/>
            <a:ext cx="3744615" cy="374461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338A31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089184" y="9601200"/>
            <a:ext cx="2890452" cy="382985"/>
          </a:xfrm>
          <a:custGeom>
            <a:avLst/>
            <a:gdLst/>
            <a:ahLst/>
            <a:cxnLst/>
            <a:rect l="l" t="t" r="r" b="b"/>
            <a:pathLst>
              <a:path w="2890452" h="382985">
                <a:moveTo>
                  <a:pt x="0" y="0"/>
                </a:moveTo>
                <a:lnTo>
                  <a:pt x="2890452" y="0"/>
                </a:lnTo>
                <a:lnTo>
                  <a:pt x="2890452" y="382985"/>
                </a:lnTo>
                <a:lnTo>
                  <a:pt x="0" y="382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 rot="5400000">
            <a:off x="15472638" y="340111"/>
            <a:ext cx="1479329" cy="1479329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66903" y="0"/>
                  </a:moveTo>
                  <a:lnTo>
                    <a:pt x="545897" y="0"/>
                  </a:lnTo>
                  <a:cubicBezTo>
                    <a:pt x="693303" y="0"/>
                    <a:pt x="812800" y="119497"/>
                    <a:pt x="812800" y="266903"/>
                  </a:cubicBezTo>
                  <a:lnTo>
                    <a:pt x="812800" y="545897"/>
                  </a:lnTo>
                  <a:cubicBezTo>
                    <a:pt x="812800" y="693303"/>
                    <a:pt x="693303" y="812800"/>
                    <a:pt x="545897" y="812800"/>
                  </a:cubicBezTo>
                  <a:lnTo>
                    <a:pt x="266903" y="812800"/>
                  </a:lnTo>
                  <a:cubicBezTo>
                    <a:pt x="119497" y="812800"/>
                    <a:pt x="0" y="693303"/>
                    <a:pt x="0" y="545897"/>
                  </a:cubicBezTo>
                  <a:lnTo>
                    <a:pt x="0" y="266903"/>
                  </a:lnTo>
                  <a:cubicBezTo>
                    <a:pt x="0" y="119497"/>
                    <a:pt x="119497" y="0"/>
                    <a:pt x="266903" y="0"/>
                  </a:cubicBezTo>
                  <a:close/>
                </a:path>
              </a:pathLst>
            </a:custGeom>
            <a:solidFill>
              <a:srgbClr val="338A31">
                <a:alpha val="2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16487576" y="1219358"/>
            <a:ext cx="771724" cy="77172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5BA62C">
                  <a:alpha val="4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914400"/>
            <a:ext cx="16230600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D3538"/>
                </a:solidFill>
                <a:latin typeface="Lato Heavy"/>
                <a:ea typeface="Lato Heavy"/>
                <a:cs typeface="Lato Heavy"/>
                <a:sym typeface="Lato Heavy"/>
              </a:rPr>
              <a:t>References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143125"/>
            <a:ext cx="16230600" cy="697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·Boak, J. (2025, March 26). Trump places 25% tariff on imported autos, expecting to raise $100 billion in tax revenues. Associated Press. </a:t>
            </a:r>
            <a:r>
              <a:rPr lang="en-US" sz="2199" u="sng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  <a:hlinkClick r:id="rId3" tooltip="https://finance.yahoo.com/news/live/live-trump-slaps-25-tariffs-on-auto-imports-warns-eu-and-canada-will-face-far-larger-levies-if-they-ally-191201025.html"/>
              </a:rPr>
              <a:t>Live: Trump slaps 25% tariffs on auto imports, warns EU and Canada will face 'far larger' levies if they ally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·Bloomberg News. (2025, March 25). Shopify takes steps to pull in billions from passive funds. </a:t>
            </a:r>
            <a:r>
              <a:rPr lang="en-US" sz="2199" u="sng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  <a:hlinkClick r:id="rId4" tooltip="https://www.bnnbloomberg.ca/business/2025/03/25/shopify-takes-steps-to-pull-in-billions-from-passive-funds/"/>
              </a:rPr>
              <a:t>https://www.bnnbloomberg.ca/business/2025/03/25/shopify-takes-steps-to-pull-in-billions-from-passive-funds/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·CertGuidan</a:t>
            </a:r>
            <a:r>
              <a:rPr lang="en-US" sz="2199" u="none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e. (n.d.). Release </a:t>
            </a:r>
            <a:r>
              <a:rPr lang="en-US" sz="2199" u="none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an</a:t>
            </a: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d deployment m</a:t>
            </a:r>
            <a:r>
              <a:rPr lang="en-US" sz="2199" u="none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n-US" sz="2199" u="none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gement </a:t>
            </a:r>
            <a:r>
              <a:rPr lang="en-US" sz="2199" u="none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in</a:t>
            </a: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 ITIL &amp; ITSM. </a:t>
            </a:r>
            <a:r>
              <a:rPr lang="en-US" sz="2199" u="sng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  <a:hlinkClick r:id="rId5" tooltip="https://www.certguidance.com/release-deployment-management-itil-itsm/"/>
              </a:rPr>
              <a:t>https://www.certguidance.com/release-deployment-management-itil-itsm/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·Cyber Management Alliance. (n.d.). How to secure your Shopify store: A proven data protection guide. </a:t>
            </a:r>
            <a:r>
              <a:rPr lang="en-US" sz="2199" u="sng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  <a:hlinkClick r:id="rId6" tooltip="https://www.cm-alliance.com/cybersecurity-blog/how-to-secure-your-shopify-store-a-proven-data-protection-guide"/>
              </a:rPr>
              <a:t>https://www.cm-alliance.com/cybersecurity-blog/how-to-secure-your-shopify-store-a-proven-data-protection-guide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·Grigorik, I. (2025, February 11). Powering Shopify’s High-Performance, PCI DSS v4 Compliant Checkout with Sandboxing. Shopify Canada. </a:t>
            </a:r>
            <a:r>
              <a:rPr lang="en-US" sz="2199" u="sng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  <a:hlinkClick r:id="rId7" tooltip="https://www.shopify.com/ca/partners/blog/checkout-compliance"/>
              </a:rPr>
              <a:t>https://www.shopify.com/ca/partners/blog/checkout-compliance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·Guru99. (2023). How to create a test strategy </a:t>
            </a:r>
            <a:r>
              <a:rPr lang="en-US" sz="2199" u="none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ocument in softw</a:t>
            </a:r>
            <a:r>
              <a:rPr lang="en-US" sz="2199" u="none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re </a:t>
            </a:r>
            <a:r>
              <a:rPr lang="en-US" sz="2199" u="none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tes</a:t>
            </a: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ting. </a:t>
            </a:r>
            <a:r>
              <a:rPr lang="en-US" sz="2199" u="sng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  <a:hlinkClick r:id="rId8" tooltip="https://www.guru99.com/how-to-create-test-strategy-document.html"/>
              </a:rPr>
              <a:t>https://www.guru99.com/how-to-create-test-strategy-document.html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·Guru99. (2023). What </a:t>
            </a:r>
            <a:r>
              <a:rPr lang="en-US" sz="2199" u="none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s risk</a:t>
            </a:r>
            <a:r>
              <a:rPr lang="en-US" sz="2199" u="none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b</a:t>
            </a:r>
            <a:r>
              <a:rPr lang="en-US" sz="2199" u="none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sed testing? P</a:t>
            </a:r>
            <a:r>
              <a:rPr lang="en-US" sz="2199" u="none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ocess, </a:t>
            </a:r>
            <a:r>
              <a:rPr lang="en-US" sz="2199" u="none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ypes, a</a:t>
            </a:r>
            <a:r>
              <a:rPr lang="en-US" sz="2199" u="none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d </a:t>
            </a:r>
            <a:r>
              <a:rPr lang="en-US" sz="2199" u="none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xample. </a:t>
            </a:r>
            <a:r>
              <a:rPr lang="en-US" sz="2199" u="sng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  <a:hlinkClick r:id="rId9" tooltip="https://www.guru99.com/risk-based-testing.html"/>
              </a:rPr>
              <a:t>https://www.guru99.com/risk-based-testing.html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·Inte</a:t>
            </a:r>
            <a:r>
              <a:rPr lang="en-US" sz="2199" u="none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national S</a:t>
            </a:r>
            <a:r>
              <a:rPr lang="en-US" sz="2199" u="none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ftware Testin</a:t>
            </a:r>
            <a:r>
              <a:rPr lang="en-US" sz="2199" u="none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g</a:t>
            </a: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 Qualifications Boa</a:t>
            </a:r>
            <a:r>
              <a:rPr lang="en-US" sz="2199" u="none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d (ISTQB). (2021). ISTQB Gloss</a:t>
            </a:r>
            <a:r>
              <a:rPr lang="en-US" sz="2199" u="none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ry of Testing Ter</a:t>
            </a:r>
            <a:r>
              <a:rPr lang="en-US" sz="2199" u="none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s. </a:t>
            </a:r>
            <a:r>
              <a:rPr lang="en-US" sz="2199" u="sng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  <a:hlinkClick r:id="rId10" tooltip="https://mcas-proxyweb.mcas.ms/certificate-checker?login=false&amp;originalUrl=https%3A%2F%2Fglossary.istqb.org.mcas.ms%2F%3FMcasTsid%3D15600&amp;McasCSRF=a069e8ac8e201513c903fcc3dd8c4ffd228683983c38f1887e60abc6405f276c"/>
              </a:rPr>
              <a:t>https://glossary.istqb.org/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668958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D3538"/>
                </a:solidFill>
                <a:latin typeface="Canva Sans"/>
                <a:ea typeface="Canva Sans"/>
                <a:cs typeface="Canva Sans"/>
                <a:sym typeface="Canva Sans"/>
              </a:rPr>
              <a:t>36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43607" y="7385993"/>
            <a:ext cx="3744615" cy="374461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338A31">
                  <a:alpha val="19608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089184" y="9601200"/>
            <a:ext cx="2890452" cy="382985"/>
          </a:xfrm>
          <a:custGeom>
            <a:avLst/>
            <a:gdLst/>
            <a:ahLst/>
            <a:cxnLst/>
            <a:rect l="l" t="t" r="r" b="b"/>
            <a:pathLst>
              <a:path w="2890452" h="382985">
                <a:moveTo>
                  <a:pt x="0" y="0"/>
                </a:moveTo>
                <a:lnTo>
                  <a:pt x="2890452" y="0"/>
                </a:lnTo>
                <a:lnTo>
                  <a:pt x="2890452" y="382985"/>
                </a:lnTo>
                <a:lnTo>
                  <a:pt x="0" y="3829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 rot="5400000">
            <a:off x="15472638" y="340111"/>
            <a:ext cx="1479329" cy="1479329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66903" y="0"/>
                  </a:moveTo>
                  <a:lnTo>
                    <a:pt x="545897" y="0"/>
                  </a:lnTo>
                  <a:cubicBezTo>
                    <a:pt x="693303" y="0"/>
                    <a:pt x="812800" y="119497"/>
                    <a:pt x="812800" y="266903"/>
                  </a:cubicBezTo>
                  <a:lnTo>
                    <a:pt x="812800" y="545897"/>
                  </a:lnTo>
                  <a:cubicBezTo>
                    <a:pt x="812800" y="693303"/>
                    <a:pt x="693303" y="812800"/>
                    <a:pt x="545897" y="812800"/>
                  </a:cubicBezTo>
                  <a:lnTo>
                    <a:pt x="266903" y="812800"/>
                  </a:lnTo>
                  <a:cubicBezTo>
                    <a:pt x="119497" y="812800"/>
                    <a:pt x="0" y="693303"/>
                    <a:pt x="0" y="545897"/>
                  </a:cubicBezTo>
                  <a:lnTo>
                    <a:pt x="0" y="266903"/>
                  </a:lnTo>
                  <a:cubicBezTo>
                    <a:pt x="0" y="119497"/>
                    <a:pt x="119497" y="0"/>
                    <a:pt x="266903" y="0"/>
                  </a:cubicBezTo>
                  <a:close/>
                </a:path>
              </a:pathLst>
            </a:custGeom>
            <a:solidFill>
              <a:srgbClr val="338A31">
                <a:alpha val="2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16487576" y="1219358"/>
            <a:ext cx="771724" cy="77172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5BA62C">
                  <a:alpha val="4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914400"/>
            <a:ext cx="16230600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1">
                <a:solidFill>
                  <a:srgbClr val="2D3538"/>
                </a:solidFill>
                <a:latin typeface="Lato Heavy"/>
                <a:ea typeface="Lato Heavy"/>
                <a:cs typeface="Lato Heavy"/>
                <a:sym typeface="Lato Heavy"/>
              </a:rPr>
              <a:t>References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143125"/>
            <a:ext cx="16230600" cy="650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·Shopify. (n.d.). About the Shopify Partner Program. Shopify Help Center. </a:t>
            </a:r>
            <a:r>
              <a:rPr lang="en-US" sz="2199" u="sng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  <a:hlinkClick r:id="rId3" tooltip="https://help.shopify.com/en/partners/about"/>
              </a:rPr>
              <a:t>https://help.shopify.com/en/partners/about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·Shopify. (n.d.). Checklist of requirements for apps in the Shopify App Store. Shopify Developer Documentation. </a:t>
            </a:r>
            <a:r>
              <a:rPr lang="en-US" sz="2199" u="sng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  <a:hlinkClick r:id="rId4" tooltip="https://shopify.dev/docs/apps/launch/app-requirements-checklist"/>
              </a:rPr>
              <a:t>https://shopify.dev/docs/apps/launch/app-requirements-checklist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·Shopify. (n.d.). Compliance reports. Shopify Help Center. </a:t>
            </a:r>
            <a:r>
              <a:rPr lang="en-US" sz="2199" u="sng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  <a:hlinkClick r:id="rId5" tooltip="https://help.shopify.com/en/manual/privacy-and-security/account-security/compliance-reports"/>
              </a:rPr>
              <a:t>https://help.shopify.com/en/manual/privacy-and-security/account-security/compliance-reports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·Shopify. (n.d.). Data transfers. Shopify Help Center. </a:t>
            </a:r>
            <a:r>
              <a:rPr lang="en-US" sz="2199" u="sng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  <a:hlinkClick r:id="rId6" tooltip="https://help.shopify.com/en/manual/privacy-and-security/privacy/international-data-transfers"/>
              </a:rPr>
              <a:t>https://help.shopify.com/en/manual/privacy-and-security/privacy/international-data-transfers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·Shopify. (n.d.). How to qualify for the Shopify Plus Certified App Program. Shopify Help Center. </a:t>
            </a:r>
            <a:r>
              <a:rPr lang="en-US" sz="2199" u="sng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  <a:hlinkClick r:id="rId7" tooltip="https://help.shopify.com/en/partners/plus-certified-app-program/certification"/>
              </a:rPr>
              <a:t>https://help.shopify.com/en/partners/plus-certified-app-program/certification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·Shopify. (n.d.). International data transfers. Shopify Help Center. </a:t>
            </a:r>
            <a:r>
              <a:rPr lang="en-US" sz="2199" u="sng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  <a:hlinkClick r:id="rId6" tooltip="https://help.shopify.com/en/manual/privacy-and-security/privacy/international-data-transfers"/>
              </a:rPr>
              <a:t>https://help.shopify.com/en/manual/privacy-and-security/privacy/international-data-transfers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·Shopify. (n.d.). Partner Program Agreement. </a:t>
            </a:r>
            <a:r>
              <a:rPr lang="en-US" sz="2199" u="sng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  <a:hlinkClick r:id="rId8" tooltip="https://www.shopify.com/partners/terms"/>
              </a:rPr>
              <a:t>https://www.shopify.com/partners/terms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</a:rPr>
              <a:t>·Shopify. (n.d.). Powering Shopify’s High-Performance, PCI DSS v4 Compliant Checkout with Sandboxing. Shopify Canada. </a:t>
            </a:r>
            <a:r>
              <a:rPr lang="en-US" sz="2199" u="sng">
                <a:solidFill>
                  <a:srgbClr val="2D3538"/>
                </a:solidFill>
                <a:latin typeface="Lato"/>
                <a:ea typeface="Lato"/>
                <a:cs typeface="Lato"/>
                <a:sym typeface="Lato"/>
                <a:hlinkClick r:id="rId9" tooltip="https://www.shopify.com/ca/partners/blog/checkout-compliance"/>
              </a:rPr>
              <a:t>https://www.shopify.com/ca/partners/blog/checkout-compliance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668958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D3538"/>
                </a:solidFill>
                <a:latin typeface="Canva Sans"/>
                <a:ea typeface="Canva Sans"/>
                <a:cs typeface="Canva Sans"/>
                <a:sym typeface="Canva Sans"/>
              </a:rPr>
              <a:t>37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1842469" y="0"/>
            <a:ext cx="5416831" cy="12022429"/>
            <a:chOff x="0" y="0"/>
            <a:chExt cx="2858770" cy="6344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58770" cy="6344920"/>
            </a:xfrm>
            <a:custGeom>
              <a:avLst/>
              <a:gdLst/>
              <a:ahLst/>
              <a:cxnLst/>
              <a:rect l="l" t="t" r="r" b="b"/>
              <a:pathLst>
                <a:path w="2858770" h="6344920">
                  <a:moveTo>
                    <a:pt x="1827530" y="6344920"/>
                  </a:moveTo>
                  <a:lnTo>
                    <a:pt x="0" y="6344920"/>
                  </a:lnTo>
                  <a:lnTo>
                    <a:pt x="0" y="1031240"/>
                  </a:lnTo>
                  <a:cubicBezTo>
                    <a:pt x="0" y="461010"/>
                    <a:pt x="461010" y="0"/>
                    <a:pt x="1031240" y="0"/>
                  </a:cubicBezTo>
                  <a:lnTo>
                    <a:pt x="2858770" y="0"/>
                  </a:lnTo>
                  <a:lnTo>
                    <a:pt x="2858770" y="5313680"/>
                  </a:lnTo>
                  <a:cubicBezTo>
                    <a:pt x="2858770" y="5883910"/>
                    <a:pt x="2397760" y="6344920"/>
                    <a:pt x="1827530" y="6344920"/>
                  </a:cubicBezTo>
                  <a:close/>
                </a:path>
              </a:pathLst>
            </a:custGeom>
            <a:blipFill>
              <a:blip r:embed="rId2"/>
              <a:stretch>
                <a:fillRect l="-103496" r="-12963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7259300" y="7109187"/>
            <a:ext cx="1028700" cy="3177813"/>
            <a:chOff x="0" y="0"/>
            <a:chExt cx="812800" cy="25108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2510865"/>
            </a:xfrm>
            <a:custGeom>
              <a:avLst/>
              <a:gdLst/>
              <a:ahLst/>
              <a:cxnLst/>
              <a:rect l="l" t="t" r="r" b="b"/>
              <a:pathLst>
                <a:path w="812800" h="2510865">
                  <a:moveTo>
                    <a:pt x="0" y="0"/>
                  </a:moveTo>
                  <a:lnTo>
                    <a:pt x="812800" y="0"/>
                  </a:lnTo>
                  <a:lnTo>
                    <a:pt x="812800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2548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7109187"/>
            <a:ext cx="11842469" cy="3177813"/>
            <a:chOff x="0" y="0"/>
            <a:chExt cx="9357013" cy="25108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357013" cy="2510865"/>
            </a:xfrm>
            <a:custGeom>
              <a:avLst/>
              <a:gdLst/>
              <a:ahLst/>
              <a:cxnLst/>
              <a:rect l="l" t="t" r="r" b="b"/>
              <a:pathLst>
                <a:path w="9357013" h="2510865">
                  <a:moveTo>
                    <a:pt x="0" y="0"/>
                  </a:moveTo>
                  <a:lnTo>
                    <a:pt x="9357013" y="0"/>
                  </a:lnTo>
                  <a:lnTo>
                    <a:pt x="9357013" y="2510865"/>
                  </a:lnTo>
                  <a:lnTo>
                    <a:pt x="0" y="2510865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357013" cy="2548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259300" y="0"/>
            <a:ext cx="1028700" cy="102870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609914" y="0"/>
            <a:ext cx="1694792" cy="10287000"/>
            <a:chOff x="0" y="0"/>
            <a:chExt cx="446365" cy="270933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6365" cy="2709333"/>
            </a:xfrm>
            <a:custGeom>
              <a:avLst/>
              <a:gdLst/>
              <a:ahLst/>
              <a:cxnLst/>
              <a:rect l="l" t="t" r="r" b="b"/>
              <a:pathLst>
                <a:path w="446365" h="2709333">
                  <a:moveTo>
                    <a:pt x="223183" y="0"/>
                  </a:moveTo>
                  <a:lnTo>
                    <a:pt x="223183" y="0"/>
                  </a:lnTo>
                  <a:cubicBezTo>
                    <a:pt x="282374" y="0"/>
                    <a:pt x="339142" y="23514"/>
                    <a:pt x="380996" y="65369"/>
                  </a:cubicBezTo>
                  <a:cubicBezTo>
                    <a:pt x="422851" y="107224"/>
                    <a:pt x="446365" y="163991"/>
                    <a:pt x="446365" y="223183"/>
                  </a:cubicBezTo>
                  <a:lnTo>
                    <a:pt x="446365" y="2486151"/>
                  </a:lnTo>
                  <a:cubicBezTo>
                    <a:pt x="446365" y="2609411"/>
                    <a:pt x="346443" y="2709333"/>
                    <a:pt x="223183" y="2709333"/>
                  </a:cubicBezTo>
                  <a:lnTo>
                    <a:pt x="223183" y="2709333"/>
                  </a:lnTo>
                  <a:cubicBezTo>
                    <a:pt x="99922" y="2709333"/>
                    <a:pt x="0" y="2609411"/>
                    <a:pt x="0" y="2486151"/>
                  </a:cubicBezTo>
                  <a:lnTo>
                    <a:pt x="0" y="223183"/>
                  </a:lnTo>
                  <a:cubicBezTo>
                    <a:pt x="0" y="99922"/>
                    <a:pt x="99922" y="0"/>
                    <a:pt x="223183" y="0"/>
                  </a:cubicBezTo>
                  <a:close/>
                </a:path>
              </a:pathLst>
            </a:custGeom>
            <a:solidFill>
              <a:srgbClr val="338A3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4636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853887" y="786854"/>
            <a:ext cx="1977164" cy="1977164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99699" y="0"/>
                  </a:moveTo>
                  <a:lnTo>
                    <a:pt x="613101" y="0"/>
                  </a:lnTo>
                  <a:cubicBezTo>
                    <a:pt x="666064" y="0"/>
                    <a:pt x="716859" y="21040"/>
                    <a:pt x="754309" y="58491"/>
                  </a:cubicBezTo>
                  <a:cubicBezTo>
                    <a:pt x="791760" y="95941"/>
                    <a:pt x="812800" y="146736"/>
                    <a:pt x="812800" y="199699"/>
                  </a:cubicBezTo>
                  <a:lnTo>
                    <a:pt x="812800" y="613101"/>
                  </a:lnTo>
                  <a:cubicBezTo>
                    <a:pt x="812800" y="666064"/>
                    <a:pt x="791760" y="716859"/>
                    <a:pt x="754309" y="754309"/>
                  </a:cubicBezTo>
                  <a:cubicBezTo>
                    <a:pt x="716859" y="791760"/>
                    <a:pt x="666064" y="812800"/>
                    <a:pt x="613101" y="812800"/>
                  </a:cubicBezTo>
                  <a:lnTo>
                    <a:pt x="199699" y="812800"/>
                  </a:lnTo>
                  <a:cubicBezTo>
                    <a:pt x="146736" y="812800"/>
                    <a:pt x="95941" y="791760"/>
                    <a:pt x="58491" y="754309"/>
                  </a:cubicBezTo>
                  <a:cubicBezTo>
                    <a:pt x="21040" y="716859"/>
                    <a:pt x="0" y="666064"/>
                    <a:pt x="0" y="613101"/>
                  </a:cubicBezTo>
                  <a:lnTo>
                    <a:pt x="0" y="199699"/>
                  </a:lnTo>
                  <a:cubicBezTo>
                    <a:pt x="0" y="146736"/>
                    <a:pt x="21040" y="95941"/>
                    <a:pt x="58491" y="58491"/>
                  </a:cubicBezTo>
                  <a:cubicBezTo>
                    <a:pt x="95941" y="21040"/>
                    <a:pt x="146736" y="0"/>
                    <a:pt x="199699" y="0"/>
                  </a:cubicBezTo>
                  <a:close/>
                </a:path>
              </a:pathLst>
            </a:custGeom>
            <a:solidFill>
              <a:srgbClr val="338A31">
                <a:alpha val="2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058241" y="4505960"/>
            <a:ext cx="8795646" cy="1303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19"/>
              </a:lnSpc>
            </a:pPr>
            <a:r>
              <a:rPr lang="en-US" sz="8799" b="1">
                <a:solidFill>
                  <a:srgbClr val="2D3538"/>
                </a:solidFill>
                <a:latin typeface="Lato Bold"/>
                <a:ea typeface="Lato Bold"/>
                <a:cs typeface="Lato Bold"/>
                <a:sym typeface="Lato Bold"/>
              </a:rPr>
              <a:t>Thank You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8484493" y="9014056"/>
            <a:ext cx="2545888" cy="2545888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0" cap="sq">
              <a:solidFill>
                <a:srgbClr val="338A31">
                  <a:alpha val="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4079715" y="1028700"/>
            <a:ext cx="4752697" cy="629732"/>
          </a:xfrm>
          <a:custGeom>
            <a:avLst/>
            <a:gdLst/>
            <a:ahLst/>
            <a:cxnLst/>
            <a:rect l="l" t="t" r="r" b="b"/>
            <a:pathLst>
              <a:path w="4752697" h="629732">
                <a:moveTo>
                  <a:pt x="0" y="0"/>
                </a:moveTo>
                <a:lnTo>
                  <a:pt x="4752697" y="0"/>
                </a:lnTo>
                <a:lnTo>
                  <a:pt x="4752697" y="629732"/>
                </a:lnTo>
                <a:lnTo>
                  <a:pt x="0" y="629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2103</Words>
  <Application>Microsoft Office PowerPoint</Application>
  <PresentationFormat>Custom</PresentationFormat>
  <Paragraphs>340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Calibri</vt:lpstr>
      <vt:lpstr>Lato Heavy</vt:lpstr>
      <vt:lpstr>Lato</vt:lpstr>
      <vt:lpstr>Canva Sans</vt:lpstr>
      <vt:lpstr>Lato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Value Markers - Final Presentation</dc:title>
  <dc:creator>ANU</dc:creator>
  <cp:lastModifiedBy>Anu Karukayil Chandapilla</cp:lastModifiedBy>
  <cp:revision>4</cp:revision>
  <dcterms:created xsi:type="dcterms:W3CDTF">2006-08-16T00:00:00Z</dcterms:created>
  <dcterms:modified xsi:type="dcterms:W3CDTF">2025-05-02T03:34:08Z</dcterms:modified>
  <dc:identifier>DAGjbblrC2Y</dc:identifier>
</cp:coreProperties>
</file>